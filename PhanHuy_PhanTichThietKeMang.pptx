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70" r:id="rId3"/>
    <p:sldId id="269" r:id="rId4"/>
    <p:sldId id="271" r:id="rId5"/>
    <p:sldId id="272" r:id="rId6"/>
    <p:sldId id="273" r:id="rId7"/>
    <p:sldId id="274" r:id="rId8"/>
    <p:sldId id="275" r:id="rId9"/>
    <p:sldId id="284" r:id="rId10"/>
    <p:sldId id="281" r:id="rId11"/>
    <p:sldId id="285" r:id="rId12"/>
    <p:sldId id="282" r:id="rId13"/>
    <p:sldId id="283" r:id="rId14"/>
    <p:sldId id="286" r:id="rId15"/>
    <p:sldId id="287" r:id="rId16"/>
    <p:sldId id="276" r:id="rId17"/>
    <p:sldId id="277" r:id="rId18"/>
    <p:sldId id="278" r:id="rId19"/>
    <p:sldId id="279" r:id="rId20"/>
    <p:sldId id="28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99" autoAdjust="0"/>
  </p:normalViewPr>
  <p:slideViewPr>
    <p:cSldViewPr snapToGrid="0">
      <p:cViewPr varScale="1">
        <p:scale>
          <a:sx n="104" d="100"/>
          <a:sy n="104" d="100"/>
        </p:scale>
        <p:origin x="83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FA7F65-DA4D-4627-824F-BD5A4C854866}" type="datetimeFigureOut">
              <a:rPr lang="en-US" smtClean="0"/>
              <a:t>12/30/2025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6F97B-C751-4EEA-9BAD-4C3DF5D8F360}" type="slidenum">
              <a:rPr lang="en-US" smtClean="0"/>
              <a:t>‹#›</a:t>
            </a:fld>
            <a:endParaRPr lang="en-US"/>
          </a:p>
        </p:txBody>
      </p:sp>
    </p:spTree>
    <p:extLst>
      <p:ext uri="{BB962C8B-B14F-4D97-AF65-F5344CB8AC3E}">
        <p14:creationId xmlns:p14="http://schemas.microsoft.com/office/powerpoint/2010/main" val="3356918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0DC6F97B-C751-4EEA-9BAD-4C3DF5D8F360}" type="slidenum">
              <a:rPr lang="en-US" smtClean="0"/>
              <a:t>17</a:t>
            </a:fld>
            <a:endParaRPr lang="en-US"/>
          </a:p>
        </p:txBody>
      </p:sp>
    </p:spTree>
    <p:extLst>
      <p:ext uri="{BB962C8B-B14F-4D97-AF65-F5344CB8AC3E}">
        <p14:creationId xmlns:p14="http://schemas.microsoft.com/office/powerpoint/2010/main" val="3640555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3E822AD-6644-4FB9-A6D9-172779888969}"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BA27B-65F8-46EC-B755-433001F1F019}" type="slidenum">
              <a:rPr lang="en-US" smtClean="0"/>
              <a:t>‹#›</a:t>
            </a:fld>
            <a:endParaRPr lang="en-US"/>
          </a:p>
        </p:txBody>
      </p:sp>
    </p:spTree>
    <p:extLst>
      <p:ext uri="{BB962C8B-B14F-4D97-AF65-F5344CB8AC3E}">
        <p14:creationId xmlns:p14="http://schemas.microsoft.com/office/powerpoint/2010/main" val="2451190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E822AD-6644-4FB9-A6D9-172779888969}"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BA27B-65F8-46EC-B755-433001F1F019}" type="slidenum">
              <a:rPr lang="en-US" smtClean="0"/>
              <a:t>‹#›</a:t>
            </a:fld>
            <a:endParaRPr lang="en-US"/>
          </a:p>
        </p:txBody>
      </p:sp>
    </p:spTree>
    <p:extLst>
      <p:ext uri="{BB962C8B-B14F-4D97-AF65-F5344CB8AC3E}">
        <p14:creationId xmlns:p14="http://schemas.microsoft.com/office/powerpoint/2010/main" val="2364157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3E822AD-6644-4FB9-A6D9-172779888969}"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BA27B-65F8-46EC-B755-433001F1F019}" type="slidenum">
              <a:rPr lang="en-US" smtClean="0"/>
              <a:t>‹#›</a:t>
            </a:fld>
            <a:endParaRPr lang="en-US"/>
          </a:p>
        </p:txBody>
      </p:sp>
    </p:spTree>
    <p:extLst>
      <p:ext uri="{BB962C8B-B14F-4D97-AF65-F5344CB8AC3E}">
        <p14:creationId xmlns:p14="http://schemas.microsoft.com/office/powerpoint/2010/main" val="77994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3E822AD-6644-4FB9-A6D9-172779888969}"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DBA27B-65F8-46EC-B755-433001F1F019}" type="slidenum">
              <a:rPr lang="en-US" smtClean="0"/>
              <a:t>‹#›</a:t>
            </a:fld>
            <a:endParaRPr lang="en-US"/>
          </a:p>
        </p:txBody>
      </p:sp>
    </p:spTree>
    <p:extLst>
      <p:ext uri="{BB962C8B-B14F-4D97-AF65-F5344CB8AC3E}">
        <p14:creationId xmlns:p14="http://schemas.microsoft.com/office/powerpoint/2010/main" val="3908251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3E822AD-6644-4FB9-A6D9-172779888969}" type="datetimeFigureOut">
              <a:rPr lang="en-US" smtClean="0"/>
              <a:t>12/30/2025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DBA27B-65F8-46EC-B755-433001F1F019}" type="slidenum">
              <a:rPr lang="en-US" smtClean="0"/>
              <a:t>‹#›</a:t>
            </a:fld>
            <a:endParaRPr lang="en-US"/>
          </a:p>
        </p:txBody>
      </p:sp>
    </p:spTree>
    <p:extLst>
      <p:ext uri="{BB962C8B-B14F-4D97-AF65-F5344CB8AC3E}">
        <p14:creationId xmlns:p14="http://schemas.microsoft.com/office/powerpoint/2010/main" val="1116501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3E822AD-6644-4FB9-A6D9-172779888969}" type="datetimeFigureOut">
              <a:rPr lang="en-US" smtClean="0"/>
              <a:t>12/30/2025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DBA27B-65F8-46EC-B755-433001F1F019}" type="slidenum">
              <a:rPr lang="en-US" smtClean="0"/>
              <a:t>‹#›</a:t>
            </a:fld>
            <a:endParaRPr lang="en-US"/>
          </a:p>
        </p:txBody>
      </p:sp>
    </p:spTree>
    <p:extLst>
      <p:ext uri="{BB962C8B-B14F-4D97-AF65-F5344CB8AC3E}">
        <p14:creationId xmlns:p14="http://schemas.microsoft.com/office/powerpoint/2010/main" val="3102443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E822AD-6644-4FB9-A6D9-172779888969}" type="datetimeFigureOut">
              <a:rPr lang="en-US" smtClean="0"/>
              <a:t>12/30/2025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DBA27B-65F8-46EC-B755-433001F1F019}" type="slidenum">
              <a:rPr lang="en-US" smtClean="0"/>
              <a:t>‹#›</a:t>
            </a:fld>
            <a:endParaRPr lang="en-US"/>
          </a:p>
        </p:txBody>
      </p:sp>
    </p:spTree>
    <p:extLst>
      <p:ext uri="{BB962C8B-B14F-4D97-AF65-F5344CB8AC3E}">
        <p14:creationId xmlns:p14="http://schemas.microsoft.com/office/powerpoint/2010/main" val="243016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3E822AD-6644-4FB9-A6D9-172779888969}"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DBA27B-65F8-46EC-B755-433001F1F019}" type="slidenum">
              <a:rPr lang="en-US" smtClean="0"/>
              <a:t>‹#›</a:t>
            </a:fld>
            <a:endParaRPr lang="en-US"/>
          </a:p>
        </p:txBody>
      </p:sp>
    </p:spTree>
    <p:extLst>
      <p:ext uri="{BB962C8B-B14F-4D97-AF65-F5344CB8AC3E}">
        <p14:creationId xmlns:p14="http://schemas.microsoft.com/office/powerpoint/2010/main" val="3855382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3E822AD-6644-4FB9-A6D9-172779888969}"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DBA27B-65F8-46EC-B755-433001F1F019}" type="slidenum">
              <a:rPr lang="en-US" smtClean="0"/>
              <a:t>‹#›</a:t>
            </a:fld>
            <a:endParaRPr lang="en-US"/>
          </a:p>
        </p:txBody>
      </p:sp>
    </p:spTree>
    <p:extLst>
      <p:ext uri="{BB962C8B-B14F-4D97-AF65-F5344CB8AC3E}">
        <p14:creationId xmlns:p14="http://schemas.microsoft.com/office/powerpoint/2010/main" val="1796951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E822AD-6644-4FB9-A6D9-172779888969}"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BA27B-65F8-46EC-B755-433001F1F019}" type="slidenum">
              <a:rPr lang="en-US" smtClean="0"/>
              <a:t>‹#›</a:t>
            </a:fld>
            <a:endParaRPr lang="en-US"/>
          </a:p>
        </p:txBody>
      </p:sp>
    </p:spTree>
    <p:extLst>
      <p:ext uri="{BB962C8B-B14F-4D97-AF65-F5344CB8AC3E}">
        <p14:creationId xmlns:p14="http://schemas.microsoft.com/office/powerpoint/2010/main" val="486015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E822AD-6644-4FB9-A6D9-172779888969}"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BA27B-65F8-46EC-B755-433001F1F019}" type="slidenum">
              <a:rPr lang="en-US" smtClean="0"/>
              <a:t>‹#›</a:t>
            </a:fld>
            <a:endParaRPr lang="en-US"/>
          </a:p>
        </p:txBody>
      </p:sp>
    </p:spTree>
    <p:extLst>
      <p:ext uri="{BB962C8B-B14F-4D97-AF65-F5344CB8AC3E}">
        <p14:creationId xmlns:p14="http://schemas.microsoft.com/office/powerpoint/2010/main" val="2123111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E822AD-6644-4FB9-A6D9-172779888969}" type="datetimeFigureOut">
              <a:rPr lang="en-US" smtClean="0"/>
              <a:t>12/30/2025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DBA27B-65F8-46EC-B755-433001F1F019}" type="slidenum">
              <a:rPr lang="en-US" smtClean="0"/>
              <a:t>‹#›</a:t>
            </a:fld>
            <a:endParaRPr lang="en-US"/>
          </a:p>
        </p:txBody>
      </p:sp>
    </p:spTree>
    <p:extLst>
      <p:ext uri="{BB962C8B-B14F-4D97-AF65-F5344CB8AC3E}">
        <p14:creationId xmlns:p14="http://schemas.microsoft.com/office/powerpoint/2010/main" val="4266885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5C227D9-DBA6-9A09-7B29-CC2577685E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040" y="46869"/>
            <a:ext cx="2200709" cy="21816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5AF6136-1F62-765F-3616-1E894E28D0FA}"/>
              </a:ext>
            </a:extLst>
          </p:cNvPr>
          <p:cNvSpPr txBox="1"/>
          <p:nvPr/>
        </p:nvSpPr>
        <p:spPr>
          <a:xfrm>
            <a:off x="2506838" y="116031"/>
            <a:ext cx="8597152" cy="954107"/>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TRƯỜNG ĐẠI HỌC KHOA HỌC ĐẠI HỌC HUẾ</a:t>
            </a:r>
          </a:p>
          <a:p>
            <a:pPr algn="ctr"/>
            <a:r>
              <a:rPr lang="en-US" sz="2800" b="1" dirty="0">
                <a:latin typeface="Times New Roman" panose="02020603050405020304" pitchFamily="18" charset="0"/>
                <a:cs typeface="Times New Roman" panose="02020603050405020304" pitchFamily="18" charset="0"/>
              </a:rPr>
              <a:t>KHOA CÔNG NGHỆ THÔNG TIN </a:t>
            </a:r>
          </a:p>
        </p:txBody>
      </p:sp>
      <p:sp>
        <p:nvSpPr>
          <p:cNvPr id="8" name="TextBox 7">
            <a:extLst>
              <a:ext uri="{FF2B5EF4-FFF2-40B4-BE49-F238E27FC236}">
                <a16:creationId xmlns:a16="http://schemas.microsoft.com/office/drawing/2014/main" id="{3E997506-3DFD-1B8E-0F69-BBF0B77DF4F4}"/>
              </a:ext>
            </a:extLst>
          </p:cNvPr>
          <p:cNvSpPr txBox="1"/>
          <p:nvPr/>
        </p:nvSpPr>
        <p:spPr>
          <a:xfrm>
            <a:off x="1984103" y="3429000"/>
            <a:ext cx="8223793" cy="1323439"/>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ĐỀ </a:t>
            </a:r>
            <a:r>
              <a:rPr lang="en-US" sz="4000" b="1">
                <a:latin typeface="Times New Roman" panose="02020603050405020304" pitchFamily="18" charset="0"/>
                <a:cs typeface="Times New Roman" panose="02020603050405020304" pitchFamily="18" charset="0"/>
              </a:rPr>
              <a:t>TÀI:</a:t>
            </a:r>
            <a:r>
              <a:rPr lang="vi-VN" sz="4000" b="1">
                <a:latin typeface="Times New Roman" panose="02020603050405020304" pitchFamily="18" charset="0"/>
                <a:cs typeface="Times New Roman" panose="02020603050405020304" pitchFamily="18" charset="0"/>
              </a:rPr>
              <a:t> Xây Dựng và Thiết Kế Mạng Lan Trường THPT PĐL</a:t>
            </a:r>
            <a:endParaRPr lang="en-US" sz="36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9FBA694-601C-A969-80AB-0C3D63520270}"/>
              </a:ext>
            </a:extLst>
          </p:cNvPr>
          <p:cNvSpPr txBox="1"/>
          <p:nvPr/>
        </p:nvSpPr>
        <p:spPr>
          <a:xfrm>
            <a:off x="2290235" y="1519058"/>
            <a:ext cx="8597152" cy="1077218"/>
          </a:xfrm>
          <a:prstGeom prst="rect">
            <a:avLst/>
          </a:prstGeom>
          <a:noFill/>
        </p:spPr>
        <p:txBody>
          <a:bodyPr wrap="square" rtlCol="0">
            <a:spAutoFit/>
            <a:scene3d>
              <a:camera prst="orthographicFront"/>
              <a:lightRig rig="threePt" dir="t"/>
            </a:scene3d>
            <a:sp3d extrusionH="57150">
              <a:bevelT h="25400" prst="softRound"/>
            </a:sp3d>
          </a:bodyPr>
          <a:lstStyle/>
          <a:p>
            <a:pPr algn="ctr"/>
            <a:r>
              <a:rPr lang="vi-VN" sz="3200" b="1">
                <a:latin typeface="Times New Roman" panose="02020603050405020304" pitchFamily="18" charset="0"/>
                <a:cs typeface="Times New Roman" panose="02020603050405020304" pitchFamily="18" charset="0"/>
              </a:rPr>
              <a:t>HỌC PHẦN: PHÂN TÍCH KIẾN TRÚC VÀ THIẾT KẾ MẠNG</a:t>
            </a:r>
            <a:endParaRPr lang="en-US" sz="3200" b="1"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AE948042-DD80-2D8F-8A66-94C102269972}"/>
              </a:ext>
            </a:extLst>
          </p:cNvPr>
          <p:cNvSpPr/>
          <p:nvPr/>
        </p:nvSpPr>
        <p:spPr>
          <a:xfrm>
            <a:off x="4021857" y="2598121"/>
            <a:ext cx="3995081" cy="646331"/>
          </a:xfrm>
          <a:prstGeom prst="rect">
            <a:avLst/>
          </a:prstGeom>
          <a:noFill/>
        </p:spPr>
        <p:txBody>
          <a:bodyPr wrap="square" lIns="91440" tIns="45720" rIns="91440" bIns="45720">
            <a:spAutoFit/>
          </a:bodyPr>
          <a:lstStyle/>
          <a:p>
            <a:pPr algn="ctr"/>
            <a:r>
              <a:rPr lang="en-US" sz="3600" b="1" cap="none" spc="0">
                <a:ln w="9525">
                  <a:solidFill>
                    <a:schemeClr val="bg1"/>
                  </a:solidFill>
                  <a:prstDash val="solid"/>
                </a:ln>
                <a:solidFill>
                  <a:schemeClr val="tx1"/>
                </a:solidFill>
                <a:effectLst>
                  <a:outerShdw blurRad="12700" dist="38100" dir="2700000" algn="tl" rotWithShape="0">
                    <a:schemeClr val="bg1">
                      <a:lumMod val="5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BÀI TIỂU LUẬN </a:t>
            </a:r>
            <a:endParaRPr lang="en-US" sz="3600" b="1" cap="none" spc="0" dirty="0">
              <a:ln w="9525">
                <a:solidFill>
                  <a:schemeClr val="bg1"/>
                </a:solidFill>
                <a:prstDash val="solid"/>
              </a:ln>
              <a:solidFill>
                <a:schemeClr val="tx1"/>
              </a:solidFill>
              <a:effectLst>
                <a:outerShdw blurRad="12700" dist="38100" dir="2700000" algn="tl" rotWithShape="0">
                  <a:schemeClr val="bg1">
                    <a:lumMod val="50000"/>
                  </a:schemeClr>
                </a:outerShdw>
                <a:reflection blurRad="6350" stA="55000" endA="300" endPos="45500" dir="5400000" sy="-100000" algn="bl" rotWithShape="0"/>
              </a:effectLst>
            </a:endParaRPr>
          </a:p>
        </p:txBody>
      </p:sp>
      <p:sp>
        <p:nvSpPr>
          <p:cNvPr id="11" name="TextBox 10">
            <a:extLst>
              <a:ext uri="{FF2B5EF4-FFF2-40B4-BE49-F238E27FC236}">
                <a16:creationId xmlns:a16="http://schemas.microsoft.com/office/drawing/2014/main" id="{24CA97C4-6B05-7604-B60C-2C46881D63DF}"/>
              </a:ext>
            </a:extLst>
          </p:cNvPr>
          <p:cNvSpPr txBox="1"/>
          <p:nvPr/>
        </p:nvSpPr>
        <p:spPr>
          <a:xfrm>
            <a:off x="2607673" y="5121535"/>
            <a:ext cx="6466114" cy="1200329"/>
          </a:xfrm>
          <a:prstGeom prst="rect">
            <a:avLst/>
          </a:prstGeom>
          <a:noFill/>
        </p:spPr>
        <p:txBody>
          <a:bodyPr wrap="square" rtlCol="0">
            <a:spAutoFit/>
          </a:bodyPr>
          <a:lstStyle/>
          <a:p>
            <a:pPr algn="ctr"/>
            <a:r>
              <a:rPr lang="en-US" b="1" i="1" dirty="0" err="1">
                <a:latin typeface="Times New Roman" panose="02020603050405020304" pitchFamily="18" charset="0"/>
                <a:cs typeface="Times New Roman" panose="02020603050405020304" pitchFamily="18" charset="0"/>
              </a:rPr>
              <a:t>Giáo</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viên</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hướng</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dẫn</a:t>
            </a:r>
            <a:r>
              <a:rPr lang="en-US" b="1" i="1" dirty="0">
                <a:latin typeface="Times New Roman" panose="02020603050405020304" pitchFamily="18" charset="0"/>
                <a:cs typeface="Times New Roman" panose="02020603050405020304" pitchFamily="18" charset="0"/>
              </a:rPr>
              <a:t>:   </a:t>
            </a:r>
            <a:r>
              <a:rPr lang="vi-VN" b="1" i="1" dirty="0">
                <a:latin typeface="Times New Roman" panose="02020603050405020304" pitchFamily="18" charset="0"/>
                <a:cs typeface="Times New Roman" panose="02020603050405020304" pitchFamily="18" charset="0"/>
              </a:rPr>
              <a:t>Thầy</a:t>
            </a:r>
            <a:r>
              <a:rPr lang="vi-VN" b="1" i="1">
                <a:latin typeface="Times New Roman" panose="02020603050405020304" pitchFamily="18" charset="0"/>
                <a:cs typeface="Times New Roman" panose="02020603050405020304" pitchFamily="18" charset="0"/>
              </a:rPr>
              <a:t>. Võ Thanh Tú</a:t>
            </a:r>
            <a:endParaRPr lang="vi-VN" b="1" i="1" dirty="0">
              <a:latin typeface="Times New Roman" panose="02020603050405020304" pitchFamily="18" charset="0"/>
              <a:cs typeface="Times New Roman" panose="02020603050405020304" pitchFamily="18" charset="0"/>
            </a:endParaRPr>
          </a:p>
          <a:p>
            <a:pPr algn="ctr"/>
            <a:r>
              <a:rPr lang="en-US" b="1" i="1" dirty="0" err="1">
                <a:latin typeface="Times New Roman" panose="02020603050405020304" pitchFamily="18" charset="0"/>
                <a:cs typeface="Times New Roman" panose="02020603050405020304" pitchFamily="18" charset="0"/>
              </a:rPr>
              <a:t>Sinh</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viên</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thực</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hiện</a:t>
            </a:r>
            <a:r>
              <a:rPr lang="en-US" b="1" i="1">
                <a:latin typeface="Times New Roman" panose="02020603050405020304" pitchFamily="18" charset="0"/>
                <a:cs typeface="Times New Roman" panose="02020603050405020304" pitchFamily="18" charset="0"/>
              </a:rPr>
              <a:t>:   </a:t>
            </a:r>
            <a:r>
              <a:rPr lang="en-US" b="1" i="1"/>
              <a:t>  </a:t>
            </a:r>
            <a:r>
              <a:rPr lang="en-US" b="1" i="1">
                <a:latin typeface="Times New Roman" panose="02020603050405020304" pitchFamily="18" charset="0"/>
                <a:cs typeface="Times New Roman" panose="02020603050405020304" pitchFamily="18" charset="0"/>
              </a:rPr>
              <a:t>Phan </a:t>
            </a:r>
            <a:r>
              <a:rPr lang="en-US" b="1" i="1" err="1">
                <a:latin typeface="Times New Roman" panose="02020603050405020304" pitchFamily="18" charset="0"/>
                <a:cs typeface="Times New Roman" panose="02020603050405020304" pitchFamily="18" charset="0"/>
              </a:rPr>
              <a:t>Huy</a:t>
            </a:r>
            <a:r>
              <a:rPr lang="en-US" b="1" i="1">
                <a:latin typeface="Times New Roman" panose="02020603050405020304" pitchFamily="18" charset="0"/>
                <a:cs typeface="Times New Roman" panose="02020603050405020304" pitchFamily="18" charset="0"/>
              </a:rPr>
              <a:t> (22T1020629)</a:t>
            </a:r>
            <a:endParaRPr lang="en-US" b="1" i="1" dirty="0">
              <a:latin typeface="Times New Roman" panose="02020603050405020304" pitchFamily="18" charset="0"/>
              <a:cs typeface="Times New Roman" panose="02020603050405020304" pitchFamily="18" charset="0"/>
            </a:endParaRPr>
          </a:p>
          <a:p>
            <a:pPr lvl="1" algn="ctr"/>
            <a:r>
              <a:rPr lang="en-US" b="1" i="1" dirty="0">
                <a:latin typeface="Times New Roman" panose="02020603050405020304" pitchFamily="18" charset="0"/>
                <a:cs typeface="Times New Roman" panose="02020603050405020304" pitchFamily="18" charset="0"/>
              </a:rPr>
              <a:t>	</a:t>
            </a:r>
            <a:r>
              <a:rPr lang="en-US" b="1" i="1">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a:p>
            <a:pPr lvl="1" algn="ctr"/>
            <a:r>
              <a:rPr lang="en-US"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37023518-9706-0689-2EAB-087A8F533CC3}"/>
              </a:ext>
            </a:extLst>
          </p:cNvPr>
          <p:cNvSpPr txBox="1"/>
          <p:nvPr/>
        </p:nvSpPr>
        <p:spPr>
          <a:xfrm>
            <a:off x="3579572" y="6432513"/>
            <a:ext cx="4208106" cy="338554"/>
          </a:xfrm>
          <a:prstGeom prst="rect">
            <a:avLst/>
          </a:prstGeom>
          <a:noFill/>
        </p:spPr>
        <p:txBody>
          <a:bodyPr wrap="square" rtlCol="0">
            <a:spAutoFit/>
          </a:bodyPr>
          <a:lstStyle/>
          <a:p>
            <a:pPr algn="ctr"/>
            <a:r>
              <a:rPr lang="en-US" sz="1600" b="1" dirty="0" err="1">
                <a:latin typeface="Times New Roman" panose="02020603050405020304" pitchFamily="18" charset="0"/>
                <a:cs typeface="Times New Roman" panose="02020603050405020304" pitchFamily="18" charset="0"/>
              </a:rPr>
              <a:t>Huế</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tháng</a:t>
            </a:r>
            <a:r>
              <a:rPr lang="en-US" sz="1600" b="1" dirty="0">
                <a:latin typeface="Times New Roman" panose="02020603050405020304" pitchFamily="18" charset="0"/>
                <a:cs typeface="Times New Roman" panose="02020603050405020304" pitchFamily="18" charset="0"/>
              </a:rPr>
              <a:t> </a:t>
            </a:r>
            <a:r>
              <a:rPr lang="vi-VN" sz="1600" b="1" dirty="0">
                <a:latin typeface="Times New Roman" panose="02020603050405020304" pitchFamily="18" charset="0"/>
                <a:cs typeface="Times New Roman" panose="02020603050405020304" pitchFamily="18" charset="0"/>
              </a:rPr>
              <a:t>11</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năm</a:t>
            </a:r>
            <a:r>
              <a:rPr lang="en-US" sz="1600" b="1" dirty="0">
                <a:latin typeface="Times New Roman" panose="02020603050405020304" pitchFamily="18" charset="0"/>
                <a:cs typeface="Times New Roman" panose="02020603050405020304" pitchFamily="18" charset="0"/>
              </a:rPr>
              <a:t> 2025</a:t>
            </a:r>
          </a:p>
        </p:txBody>
      </p:sp>
    </p:spTree>
    <p:extLst>
      <p:ext uri="{BB962C8B-B14F-4D97-AF65-F5344CB8AC3E}">
        <p14:creationId xmlns:p14="http://schemas.microsoft.com/office/powerpoint/2010/main" val="2335568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FF885A-3302-4DAD-997B-69B818DC7EFA}"/>
              </a:ext>
            </a:extLst>
          </p:cNvPr>
          <p:cNvSpPr/>
          <p:nvPr/>
        </p:nvSpPr>
        <p:spPr>
          <a:xfrm>
            <a:off x="340369" y="777914"/>
            <a:ext cx="11193851" cy="2123658"/>
          </a:xfrm>
          <a:prstGeom prst="rect">
            <a:avLst/>
          </a:prstGeom>
        </p:spPr>
        <p:txBody>
          <a:bodyPr wrap="square">
            <a:spAutoFit/>
          </a:bodyPr>
          <a:lstStyle/>
          <a:p>
            <a:pPr marL="342900" indent="-342900">
              <a:buFont typeface="Wingdings" panose="05000000000000000000" pitchFamily="2" charset="2"/>
              <a:buChar char="Ø"/>
            </a:pPr>
            <a:r>
              <a:rPr lang="vi-VN" sz="2400" b="1">
                <a:latin typeface="+mj-lt"/>
              </a:rPr>
              <a:t>Mục tiêu:</a:t>
            </a:r>
          </a:p>
          <a:p>
            <a:pPr marL="285750" indent="-285750">
              <a:buFont typeface="Arial" panose="020B0604020202020204" pitchFamily="34" charset="0"/>
              <a:buChar char="•"/>
            </a:pPr>
            <a:r>
              <a:rPr lang="vi-VN" b="1">
                <a:latin typeface="+mj-lt"/>
              </a:rPr>
              <a:t>Thiết kế cấu trúc mạng LAN chuẩn star topology.</a:t>
            </a:r>
            <a:endParaRPr lang="vi-VN">
              <a:latin typeface="+mj-lt"/>
            </a:endParaRPr>
          </a:p>
          <a:p>
            <a:pPr marL="285750" indent="-285750">
              <a:buFont typeface="Arial" panose="020B0604020202020204" pitchFamily="34" charset="0"/>
              <a:buChar char="•"/>
            </a:pPr>
            <a:r>
              <a:rPr lang="vi-VN" b="1">
                <a:latin typeface="+mj-lt"/>
              </a:rPr>
              <a:t>Phân chia VLAN:</a:t>
            </a:r>
            <a:r>
              <a:rPr lang="vi-VN">
                <a:latin typeface="+mj-lt"/>
              </a:rPr>
              <a:t> Lab A, Lab B, Server, Printer, Wi-Fi/Admin.</a:t>
            </a:r>
          </a:p>
          <a:p>
            <a:pPr marL="285750" indent="-285750">
              <a:buFont typeface="Arial" panose="020B0604020202020204" pitchFamily="34" charset="0"/>
              <a:buChar char="•"/>
            </a:pPr>
            <a:r>
              <a:rPr lang="vi-VN" b="1">
                <a:latin typeface="+mj-lt"/>
              </a:rPr>
              <a:t>Cài đặt server quản lý:</a:t>
            </a:r>
            <a:r>
              <a:rPr lang="vi-VN">
                <a:latin typeface="+mj-lt"/>
              </a:rPr>
              <a:t> Active Directory, DHCP, DNS, File &amp; Print.</a:t>
            </a:r>
          </a:p>
          <a:p>
            <a:pPr marL="285750" indent="-285750">
              <a:buFont typeface="Arial" panose="020B0604020202020204" pitchFamily="34" charset="0"/>
              <a:buChar char="•"/>
            </a:pPr>
            <a:r>
              <a:rPr lang="vi-VN" b="1">
                <a:latin typeface="+mj-lt"/>
              </a:rPr>
              <a:t>Tối ưu hiệu năng:</a:t>
            </a:r>
            <a:r>
              <a:rPr lang="vi-VN">
                <a:latin typeface="+mj-lt"/>
              </a:rPr>
              <a:t> kết nối Gigabit, thiết bị chuẩn CAT6.</a:t>
            </a:r>
          </a:p>
          <a:p>
            <a:pPr marL="285750" indent="-285750">
              <a:buFont typeface="Arial" panose="020B0604020202020204" pitchFamily="34" charset="0"/>
              <a:buChar char="•"/>
            </a:pPr>
            <a:r>
              <a:rPr lang="vi-VN" b="1">
                <a:latin typeface="+mj-lt"/>
              </a:rPr>
              <a:t>Đảm bảo bảo mật:</a:t>
            </a:r>
            <a:r>
              <a:rPr lang="vi-VN">
                <a:latin typeface="+mj-lt"/>
              </a:rPr>
              <a:t> cách ly VLAN, phân quyền truy cập, sao lưu NAS.</a:t>
            </a:r>
          </a:p>
          <a:p>
            <a:pPr marL="285750" indent="-285750">
              <a:buFont typeface="Arial" panose="020B0604020202020204" pitchFamily="34" charset="0"/>
              <a:buChar char="•"/>
            </a:pPr>
            <a:r>
              <a:rPr lang="vi-VN" b="1">
                <a:latin typeface="+mj-lt"/>
              </a:rPr>
              <a:t>Xây dựng sơ đồ, bảng địa chỉ IP, và kế hoạch triển khai – bảo trì.</a:t>
            </a:r>
            <a:endParaRPr lang="vi-VN">
              <a:latin typeface="+mj-lt"/>
            </a:endParaRPr>
          </a:p>
        </p:txBody>
      </p:sp>
      <p:sp>
        <p:nvSpPr>
          <p:cNvPr id="2" name="Rectangle 1">
            <a:extLst>
              <a:ext uri="{FF2B5EF4-FFF2-40B4-BE49-F238E27FC236}">
                <a16:creationId xmlns:a16="http://schemas.microsoft.com/office/drawing/2014/main" id="{4179A7FD-C8B5-4998-B185-61DA7F67EBEB}"/>
              </a:ext>
            </a:extLst>
          </p:cNvPr>
          <p:cNvSpPr/>
          <p:nvPr/>
        </p:nvSpPr>
        <p:spPr>
          <a:xfrm>
            <a:off x="340369" y="2902692"/>
            <a:ext cx="4050340" cy="461665"/>
          </a:xfrm>
          <a:prstGeom prst="rect">
            <a:avLst/>
          </a:prstGeom>
        </p:spPr>
        <p:txBody>
          <a:bodyPr wrap="none">
            <a:spAutoFit/>
          </a:bodyPr>
          <a:lstStyle/>
          <a:p>
            <a:r>
              <a:rPr lang="vi-VN" sz="2400" b="1">
                <a:latin typeface="+mj-lt"/>
              </a:rPr>
              <a:t>1. Giới Thiệu Chung về đề tài</a:t>
            </a:r>
          </a:p>
        </p:txBody>
      </p:sp>
      <p:sp>
        <p:nvSpPr>
          <p:cNvPr id="3" name="Rectangle 2">
            <a:extLst>
              <a:ext uri="{FF2B5EF4-FFF2-40B4-BE49-F238E27FC236}">
                <a16:creationId xmlns:a16="http://schemas.microsoft.com/office/drawing/2014/main" id="{722A1055-FCC8-4BF1-B7FC-7B6A0A8F621A}"/>
              </a:ext>
            </a:extLst>
          </p:cNvPr>
          <p:cNvSpPr/>
          <p:nvPr/>
        </p:nvSpPr>
        <p:spPr>
          <a:xfrm>
            <a:off x="379224" y="3429000"/>
            <a:ext cx="4072012" cy="461665"/>
          </a:xfrm>
          <a:prstGeom prst="rect">
            <a:avLst/>
          </a:prstGeom>
        </p:spPr>
        <p:txBody>
          <a:bodyPr wrap="none">
            <a:spAutoFit/>
          </a:bodyPr>
          <a:lstStyle/>
          <a:p>
            <a:r>
              <a:rPr lang="vi-VN" sz="2400" b="1">
                <a:latin typeface="+mj-lt"/>
              </a:rPr>
              <a:t>2. Phân Tích Hệ Thống Mạng</a:t>
            </a:r>
          </a:p>
        </p:txBody>
      </p:sp>
      <p:sp>
        <p:nvSpPr>
          <p:cNvPr id="4" name="Rectangle 3">
            <a:extLst>
              <a:ext uri="{FF2B5EF4-FFF2-40B4-BE49-F238E27FC236}">
                <a16:creationId xmlns:a16="http://schemas.microsoft.com/office/drawing/2014/main" id="{5AA3FD3F-2A46-4009-8BE0-BFEF628CCE96}"/>
              </a:ext>
            </a:extLst>
          </p:cNvPr>
          <p:cNvSpPr/>
          <p:nvPr/>
        </p:nvSpPr>
        <p:spPr>
          <a:xfrm>
            <a:off x="379224" y="4795486"/>
            <a:ext cx="4827475" cy="461665"/>
          </a:xfrm>
          <a:prstGeom prst="rect">
            <a:avLst/>
          </a:prstGeom>
        </p:spPr>
        <p:txBody>
          <a:bodyPr wrap="none">
            <a:spAutoFit/>
          </a:bodyPr>
          <a:lstStyle/>
          <a:p>
            <a:r>
              <a:rPr lang="vi-VN" sz="2400" b="1">
                <a:latin typeface="+mj-lt"/>
              </a:rPr>
              <a:t>3. Thiết Kế &amp; Triển Khai Kỹ Thuật</a:t>
            </a:r>
          </a:p>
        </p:txBody>
      </p:sp>
      <p:sp>
        <p:nvSpPr>
          <p:cNvPr id="24" name="Rectangle 23">
            <a:extLst>
              <a:ext uri="{FF2B5EF4-FFF2-40B4-BE49-F238E27FC236}">
                <a16:creationId xmlns:a16="http://schemas.microsoft.com/office/drawing/2014/main" id="{E4FBD7C8-C16F-4BE0-BC6B-9CDCBF95F3D4}"/>
              </a:ext>
            </a:extLst>
          </p:cNvPr>
          <p:cNvSpPr/>
          <p:nvPr/>
        </p:nvSpPr>
        <p:spPr>
          <a:xfrm>
            <a:off x="1025491" y="3826193"/>
            <a:ext cx="6508513" cy="1015663"/>
          </a:xfrm>
          <a:prstGeom prst="rect">
            <a:avLst/>
          </a:prstGeom>
        </p:spPr>
        <p:txBody>
          <a:bodyPr wrap="none">
            <a:spAutoFit/>
          </a:bodyPr>
          <a:lstStyle/>
          <a:p>
            <a:r>
              <a:rPr lang="vi-VN" sz="2000">
                <a:latin typeface="+mj-lt"/>
              </a:rPr>
              <a:t>2.1. Phạm vi và yêu cầu hệ thống</a:t>
            </a:r>
          </a:p>
          <a:p>
            <a:r>
              <a:rPr lang="vi-VN" sz="2000">
                <a:latin typeface="+mj-lt"/>
              </a:rPr>
              <a:t>2.2. Phân tích hiện trạng</a:t>
            </a:r>
          </a:p>
          <a:p>
            <a:r>
              <a:rPr lang="vi-VN" sz="2000">
                <a:latin typeface="+mj-lt"/>
              </a:rPr>
              <a:t>2.3. Đề xuất cải tiến hệ thống khắc phục và cải tiến toàn diện:</a:t>
            </a:r>
          </a:p>
        </p:txBody>
      </p:sp>
      <p:sp>
        <p:nvSpPr>
          <p:cNvPr id="9" name="Rectangle 8">
            <a:extLst>
              <a:ext uri="{FF2B5EF4-FFF2-40B4-BE49-F238E27FC236}">
                <a16:creationId xmlns:a16="http://schemas.microsoft.com/office/drawing/2014/main" id="{CF80F34E-EF6B-4A1E-94D8-0695606678E0}"/>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5" name="TextBox 4">
            <a:extLst>
              <a:ext uri="{FF2B5EF4-FFF2-40B4-BE49-F238E27FC236}">
                <a16:creationId xmlns:a16="http://schemas.microsoft.com/office/drawing/2014/main" id="{301AB703-01AF-4AD9-A10D-9D9BD6F0351A}"/>
              </a:ext>
            </a:extLst>
          </p:cNvPr>
          <p:cNvSpPr txBox="1"/>
          <p:nvPr/>
        </p:nvSpPr>
        <p:spPr>
          <a:xfrm>
            <a:off x="137183" y="65830"/>
            <a:ext cx="2271776" cy="584775"/>
          </a:xfrm>
          <a:prstGeom prst="rect">
            <a:avLst/>
          </a:prstGeom>
          <a:noFill/>
        </p:spPr>
        <p:txBody>
          <a:bodyPr wrap="none" rtlCol="0">
            <a:spAutoFit/>
          </a:bodyPr>
          <a:lstStyle/>
          <a:p>
            <a:r>
              <a:rPr lang="vi-VN" sz="3200" b="1">
                <a:latin typeface="+mj-lt"/>
              </a:rPr>
              <a:t>NỘI DUNG</a:t>
            </a:r>
          </a:p>
        </p:txBody>
      </p:sp>
      <p:sp>
        <p:nvSpPr>
          <p:cNvPr id="7" name="Rectangle 6">
            <a:extLst>
              <a:ext uri="{FF2B5EF4-FFF2-40B4-BE49-F238E27FC236}">
                <a16:creationId xmlns:a16="http://schemas.microsoft.com/office/drawing/2014/main" id="{371F5498-8D40-4DF8-8D74-BA0C37B717F9}"/>
              </a:ext>
            </a:extLst>
          </p:cNvPr>
          <p:cNvSpPr/>
          <p:nvPr/>
        </p:nvSpPr>
        <p:spPr>
          <a:xfrm>
            <a:off x="1025491" y="5156756"/>
            <a:ext cx="3534942" cy="923330"/>
          </a:xfrm>
          <a:prstGeom prst="rect">
            <a:avLst/>
          </a:prstGeom>
        </p:spPr>
        <p:txBody>
          <a:bodyPr wrap="none">
            <a:spAutoFit/>
          </a:bodyPr>
          <a:lstStyle/>
          <a:p>
            <a:r>
              <a:rPr lang="vi-VN">
                <a:latin typeface="+mj-lt"/>
              </a:rPr>
              <a:t>3.1. Lựa chọn thiết bị mạng</a:t>
            </a:r>
          </a:p>
          <a:p>
            <a:r>
              <a:rPr lang="vi-VN">
                <a:latin typeface="+mj-lt"/>
              </a:rPr>
              <a:t>3.2. Kế hoạch triển khai (theo bước)</a:t>
            </a:r>
          </a:p>
          <a:p>
            <a:r>
              <a:rPr lang="vi-VN">
                <a:latin typeface="+mj-lt"/>
              </a:rPr>
              <a:t>3.3. Kế hoạch bảo trì định kỳ</a:t>
            </a:r>
          </a:p>
        </p:txBody>
      </p:sp>
      <p:sp>
        <p:nvSpPr>
          <p:cNvPr id="8" name="Rectangle 7">
            <a:extLst>
              <a:ext uri="{FF2B5EF4-FFF2-40B4-BE49-F238E27FC236}">
                <a16:creationId xmlns:a16="http://schemas.microsoft.com/office/drawing/2014/main" id="{D7037086-0A45-4439-9CAE-771E1CD0AE0D}"/>
              </a:ext>
            </a:extLst>
          </p:cNvPr>
          <p:cNvSpPr/>
          <p:nvPr/>
        </p:nvSpPr>
        <p:spPr>
          <a:xfrm>
            <a:off x="353868" y="6080086"/>
            <a:ext cx="6096000" cy="461665"/>
          </a:xfrm>
          <a:prstGeom prst="rect">
            <a:avLst/>
          </a:prstGeom>
        </p:spPr>
        <p:txBody>
          <a:bodyPr>
            <a:spAutoFit/>
          </a:bodyPr>
          <a:lstStyle/>
          <a:p>
            <a:r>
              <a:rPr lang="vi-VN" sz="2400" b="1">
                <a:latin typeface="+mj-lt"/>
              </a:rPr>
              <a:t>4. Kết luận và hướng phát triển</a:t>
            </a:r>
          </a:p>
        </p:txBody>
      </p:sp>
    </p:spTree>
    <p:extLst>
      <p:ext uri="{BB962C8B-B14F-4D97-AF65-F5344CB8AC3E}">
        <p14:creationId xmlns:p14="http://schemas.microsoft.com/office/powerpoint/2010/main" val="696313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8" name="Rectangle 7">
            <a:extLst>
              <a:ext uri="{FF2B5EF4-FFF2-40B4-BE49-F238E27FC236}">
                <a16:creationId xmlns:a16="http://schemas.microsoft.com/office/drawing/2014/main" id="{1E3AA29E-4278-4B3B-9472-6B951A2853DF}"/>
              </a:ext>
            </a:extLst>
          </p:cNvPr>
          <p:cNvSpPr/>
          <p:nvPr/>
        </p:nvSpPr>
        <p:spPr>
          <a:xfrm>
            <a:off x="133578" y="44540"/>
            <a:ext cx="5984010" cy="646331"/>
          </a:xfrm>
          <a:prstGeom prst="rect">
            <a:avLst/>
          </a:prstGeom>
        </p:spPr>
        <p:txBody>
          <a:bodyPr wrap="none">
            <a:spAutoFit/>
          </a:bodyPr>
          <a:lstStyle/>
          <a:p>
            <a:r>
              <a:rPr lang="vi-VN" sz="3600" b="1">
                <a:latin typeface="+mj-lt"/>
              </a:rPr>
              <a:t>1. Giới Thiệu Chung về đề tài</a:t>
            </a:r>
          </a:p>
        </p:txBody>
      </p:sp>
      <p:sp>
        <p:nvSpPr>
          <p:cNvPr id="3" name="Rectangle 1">
            <a:extLst>
              <a:ext uri="{FF2B5EF4-FFF2-40B4-BE49-F238E27FC236}">
                <a16:creationId xmlns:a16="http://schemas.microsoft.com/office/drawing/2014/main" id="{2DEAD936-D392-497E-B409-39B0E73EBE0F}"/>
              </a:ext>
            </a:extLst>
          </p:cNvPr>
          <p:cNvSpPr>
            <a:spLocks noChangeArrowheads="1"/>
          </p:cNvSpPr>
          <p:nvPr/>
        </p:nvSpPr>
        <p:spPr bwMode="auto">
          <a:xfrm>
            <a:off x="413656" y="967902"/>
            <a:ext cx="1090734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Wingdings" panose="05000000000000000000" pitchFamily="2" charset="2"/>
              <a:buChar char="Ø"/>
            </a:pPr>
            <a:r>
              <a:rPr lang="vi-VN" sz="2000" b="1">
                <a:latin typeface="+mj-lt"/>
              </a:rPr>
              <a:t>Mục tiêu cụ thể:</a:t>
            </a:r>
            <a:endParaRPr lang="vi-VN" altLang="vi-VN" sz="2000" b="1">
              <a:latin typeface="+mj-lt"/>
            </a:endParaRPr>
          </a:p>
          <a:p>
            <a:pPr marL="285750" indent="-285750">
              <a:buFont typeface="Arial" panose="020B0604020202020204" pitchFamily="34" charset="0"/>
              <a:buChar char="•"/>
            </a:pPr>
            <a:r>
              <a:rPr lang="vi-VN" sz="2000">
                <a:latin typeface="+mj-lt"/>
              </a:rPr>
              <a:t>Trường THPT Phan Đăng Lưu có 2 phòng máy tính (mỗi phòng 30 máy).</a:t>
            </a:r>
          </a:p>
          <a:p>
            <a:pPr marL="285750" indent="-285750">
              <a:buFont typeface="Arial" panose="020B0604020202020204" pitchFamily="34" charset="0"/>
              <a:buChar char="•"/>
            </a:pPr>
            <a:r>
              <a:rPr lang="vi-VN" sz="2000">
                <a:latin typeface="+mj-lt"/>
              </a:rPr>
              <a:t>Hệ thống mạng hiện tại cũ, tốc độ thấp, dễ lỗi IP trùng, chưa có phân quyền.</a:t>
            </a:r>
          </a:p>
          <a:p>
            <a:pPr marL="285750" indent="-285750">
              <a:buFont typeface="Arial" panose="020B0604020202020204" pitchFamily="34" charset="0"/>
              <a:buChar char="•"/>
            </a:pPr>
            <a:r>
              <a:rPr lang="vi-VN" sz="2000">
                <a:latin typeface="+mj-lt"/>
              </a:rPr>
              <a:t>Dự án hướng đến </a:t>
            </a:r>
            <a:r>
              <a:rPr lang="vi-VN" sz="2000" b="1">
                <a:latin typeface="+mj-lt"/>
              </a:rPr>
              <a:t>xây dựng hệ thống mạng LAN chuẩn, có quản lý tập trung và VLAN tách biệt</a:t>
            </a:r>
            <a:r>
              <a:rPr lang="vi-VN" sz="2000">
                <a:latin typeface="+mj-lt"/>
              </a:rPr>
              <a:t>.</a:t>
            </a:r>
          </a:p>
          <a:p>
            <a:pPr marL="285750" indent="-285750">
              <a:buFont typeface="Arial" panose="020B0604020202020204" pitchFamily="34" charset="0"/>
              <a:buChar char="•"/>
            </a:pPr>
            <a:r>
              <a:rPr lang="vi-VN" sz="2000">
                <a:latin typeface="+mj-lt"/>
              </a:rPr>
              <a:t>Mục tiêu là </a:t>
            </a:r>
            <a:r>
              <a:rPr lang="vi-VN" sz="2000" b="1">
                <a:latin typeface="+mj-lt"/>
              </a:rPr>
              <a:t>ổn định, dễ quản trị, bảo mật và mở rộng được.</a:t>
            </a:r>
            <a:endParaRPr lang="vi-VN" sz="2000">
              <a:latin typeface="+mj-lt"/>
            </a:endParaRPr>
          </a:p>
        </p:txBody>
      </p:sp>
      <p:sp>
        <p:nvSpPr>
          <p:cNvPr id="4" name="Rectangle 3">
            <a:extLst>
              <a:ext uri="{FF2B5EF4-FFF2-40B4-BE49-F238E27FC236}">
                <a16:creationId xmlns:a16="http://schemas.microsoft.com/office/drawing/2014/main" id="{2E7DF519-7BBB-4DB7-9B00-2E5A3ECB2CD0}"/>
              </a:ext>
            </a:extLst>
          </p:cNvPr>
          <p:cNvSpPr/>
          <p:nvPr/>
        </p:nvSpPr>
        <p:spPr>
          <a:xfrm>
            <a:off x="413656" y="2719999"/>
            <a:ext cx="6694715" cy="3170099"/>
          </a:xfrm>
          <a:prstGeom prst="rect">
            <a:avLst/>
          </a:prstGeom>
        </p:spPr>
        <p:txBody>
          <a:bodyPr wrap="square">
            <a:spAutoFit/>
          </a:bodyPr>
          <a:lstStyle/>
          <a:p>
            <a:pPr marL="285750" indent="-285750">
              <a:buFont typeface="Wingdings" panose="05000000000000000000" pitchFamily="2" charset="2"/>
              <a:buChar char="Ø"/>
            </a:pPr>
            <a:r>
              <a:rPr lang="vi-VN" sz="2000" b="1">
                <a:latin typeface="+mj-lt"/>
              </a:rPr>
              <a:t>Phạm vi dự án</a:t>
            </a:r>
          </a:p>
          <a:p>
            <a:pPr marL="342900" lvl="0" indent="-342900" eaLnBrk="0" fontAlgn="base" hangingPunct="0">
              <a:spcBef>
                <a:spcPct val="0"/>
              </a:spcBef>
              <a:spcAft>
                <a:spcPct val="0"/>
              </a:spcAft>
              <a:buFont typeface="Arial" panose="020B0604020202020204" pitchFamily="34" charset="0"/>
              <a:buChar char="•"/>
            </a:pPr>
            <a:r>
              <a:rPr lang="vi-VN" altLang="vi-VN" sz="2000">
                <a:latin typeface="+mj-lt"/>
              </a:rPr>
              <a:t>Thiết kế cấu trúc mạng LAN chuẩn star topology.</a:t>
            </a:r>
          </a:p>
          <a:p>
            <a:pPr marL="342900" lvl="0" indent="-342900" eaLnBrk="0" fontAlgn="base" hangingPunct="0">
              <a:spcBef>
                <a:spcPct val="0"/>
              </a:spcBef>
              <a:spcAft>
                <a:spcPct val="0"/>
              </a:spcAft>
              <a:buFont typeface="Arial" panose="020B0604020202020204" pitchFamily="34" charset="0"/>
              <a:buChar char="•"/>
            </a:pPr>
            <a:r>
              <a:rPr lang="vi-VN" altLang="vi-VN" sz="2000">
                <a:latin typeface="+mj-lt"/>
              </a:rPr>
              <a:t>Phân chia VLAN: Lab A, Lab B, Server, Printer, Wi-Fi</a:t>
            </a:r>
          </a:p>
          <a:p>
            <a:pPr marL="342900" lvl="0" indent="-342900" eaLnBrk="0" fontAlgn="base" hangingPunct="0">
              <a:spcBef>
                <a:spcPct val="0"/>
              </a:spcBef>
              <a:spcAft>
                <a:spcPct val="0"/>
              </a:spcAft>
              <a:buFont typeface="Arial" panose="020B0604020202020204" pitchFamily="34" charset="0"/>
              <a:buChar char="•"/>
            </a:pPr>
            <a:r>
              <a:rPr lang="vi-VN" altLang="vi-VN" sz="2000">
                <a:latin typeface="+mj-lt"/>
              </a:rPr>
              <a:t>Cài đặt server quản lý: Active Directory, DHCP, DNS, File &amp; Print.</a:t>
            </a:r>
          </a:p>
          <a:p>
            <a:pPr marL="342900" lvl="0" indent="-342900" eaLnBrk="0" fontAlgn="base" hangingPunct="0">
              <a:spcBef>
                <a:spcPct val="0"/>
              </a:spcBef>
              <a:spcAft>
                <a:spcPct val="0"/>
              </a:spcAft>
              <a:buFont typeface="Arial" panose="020B0604020202020204" pitchFamily="34" charset="0"/>
              <a:buChar char="•"/>
            </a:pPr>
            <a:r>
              <a:rPr lang="vi-VN" altLang="vi-VN" sz="2000">
                <a:latin typeface="+mj-lt"/>
              </a:rPr>
              <a:t>Tối ưu hiệu năng: kết nối Gigabit, thiết bị chuẩn CAT6.</a:t>
            </a:r>
          </a:p>
          <a:p>
            <a:pPr marL="342900" lvl="0" indent="-342900" eaLnBrk="0" fontAlgn="base" hangingPunct="0">
              <a:spcBef>
                <a:spcPct val="0"/>
              </a:spcBef>
              <a:spcAft>
                <a:spcPct val="0"/>
              </a:spcAft>
              <a:buFont typeface="Arial" panose="020B0604020202020204" pitchFamily="34" charset="0"/>
              <a:buChar char="•"/>
            </a:pPr>
            <a:r>
              <a:rPr lang="vi-VN" altLang="vi-VN" sz="2000">
                <a:latin typeface="+mj-lt"/>
              </a:rPr>
              <a:t>Đảm bảo bảo mật: cách ly VLAN, phân quyền truy cập, sao lưu NAS.</a:t>
            </a:r>
          </a:p>
          <a:p>
            <a:pPr marL="342900" lvl="0" indent="-342900" eaLnBrk="0" fontAlgn="base" hangingPunct="0">
              <a:spcBef>
                <a:spcPct val="0"/>
              </a:spcBef>
              <a:spcAft>
                <a:spcPct val="0"/>
              </a:spcAft>
              <a:buFont typeface="Arial" panose="020B0604020202020204" pitchFamily="34" charset="0"/>
              <a:buChar char="•"/>
            </a:pPr>
            <a:r>
              <a:rPr lang="vi-VN" altLang="vi-VN" sz="2000">
                <a:latin typeface="+mj-lt"/>
              </a:rPr>
              <a:t>Xây dựng sơ đồ, bảng địa chỉ IP, và kế hoạch triển khai – bảo trì.</a:t>
            </a:r>
          </a:p>
        </p:txBody>
      </p:sp>
      <p:pic>
        <p:nvPicPr>
          <p:cNvPr id="1027" name="Picture 3" descr="GIỚI THIỆU CÁC KIẾN TRÚC VÀ MÔ HÌNH MẠNG | GLOBALTECH JSC">
            <a:extLst>
              <a:ext uri="{FF2B5EF4-FFF2-40B4-BE49-F238E27FC236}">
                <a16:creationId xmlns:a16="http://schemas.microsoft.com/office/drawing/2014/main" id="{4770DA09-7922-454B-AC0A-5E4960AE7E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8371" y="3004709"/>
            <a:ext cx="4863714" cy="3170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739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8" name="Rectangle 7">
            <a:extLst>
              <a:ext uri="{FF2B5EF4-FFF2-40B4-BE49-F238E27FC236}">
                <a16:creationId xmlns:a16="http://schemas.microsoft.com/office/drawing/2014/main" id="{1E3AA29E-4278-4B3B-9472-6B951A2853DF}"/>
              </a:ext>
            </a:extLst>
          </p:cNvPr>
          <p:cNvSpPr/>
          <p:nvPr/>
        </p:nvSpPr>
        <p:spPr>
          <a:xfrm>
            <a:off x="133578" y="44540"/>
            <a:ext cx="6015749" cy="646331"/>
          </a:xfrm>
          <a:prstGeom prst="rect">
            <a:avLst/>
          </a:prstGeom>
        </p:spPr>
        <p:txBody>
          <a:bodyPr wrap="none">
            <a:spAutoFit/>
          </a:bodyPr>
          <a:lstStyle/>
          <a:p>
            <a:r>
              <a:rPr lang="vi-VN" sz="3600" b="1">
                <a:latin typeface="+mj-lt"/>
              </a:rPr>
              <a:t>2. Phân Tích Hệ Thống Mạng</a:t>
            </a:r>
          </a:p>
        </p:txBody>
      </p:sp>
      <p:sp>
        <p:nvSpPr>
          <p:cNvPr id="3" name="Rectangle 2">
            <a:extLst>
              <a:ext uri="{FF2B5EF4-FFF2-40B4-BE49-F238E27FC236}">
                <a16:creationId xmlns:a16="http://schemas.microsoft.com/office/drawing/2014/main" id="{C6F5202A-3ABD-44B5-8356-698DC165D230}"/>
              </a:ext>
            </a:extLst>
          </p:cNvPr>
          <p:cNvSpPr/>
          <p:nvPr/>
        </p:nvSpPr>
        <p:spPr>
          <a:xfrm>
            <a:off x="239485" y="780843"/>
            <a:ext cx="6096000" cy="1754326"/>
          </a:xfrm>
          <a:prstGeom prst="rect">
            <a:avLst/>
          </a:prstGeom>
        </p:spPr>
        <p:txBody>
          <a:bodyPr>
            <a:spAutoFit/>
          </a:bodyPr>
          <a:lstStyle/>
          <a:p>
            <a:r>
              <a:rPr lang="vi-VN" sz="2800" b="1">
                <a:latin typeface="+mj-lt"/>
              </a:rPr>
              <a:t>2.1. Phạm vi và yêu cầu hệ thống</a:t>
            </a:r>
          </a:p>
          <a:p>
            <a:pPr marL="342900" indent="-342900">
              <a:buFont typeface="Wingdings" panose="05000000000000000000" pitchFamily="2" charset="2"/>
              <a:buChar char="Ø"/>
            </a:pPr>
            <a:r>
              <a:rPr lang="vi-VN" sz="2000" b="1">
                <a:latin typeface="+mj-lt"/>
              </a:rPr>
              <a:t>Phạm vi triển khai:</a:t>
            </a:r>
            <a:endParaRPr lang="vi-VN" sz="2000">
              <a:latin typeface="+mj-lt"/>
            </a:endParaRPr>
          </a:p>
          <a:p>
            <a:pPr marL="342900" indent="-342900">
              <a:buFont typeface="Arial" panose="020B0604020202020204" pitchFamily="34" charset="0"/>
              <a:buChar char="•"/>
            </a:pPr>
            <a:r>
              <a:rPr lang="vi-VN" sz="2000">
                <a:latin typeface="+mj-lt"/>
              </a:rPr>
              <a:t>2 phòng thực hành (mỗi phòng 30 máy).</a:t>
            </a:r>
          </a:p>
          <a:p>
            <a:pPr marL="342900" indent="-342900">
              <a:buFont typeface="Arial" panose="020B0604020202020204" pitchFamily="34" charset="0"/>
              <a:buChar char="•"/>
            </a:pPr>
            <a:r>
              <a:rPr lang="vi-VN" sz="2000">
                <a:latin typeface="+mj-lt"/>
              </a:rPr>
              <a:t>1 phòng server trung tâm.</a:t>
            </a:r>
          </a:p>
          <a:p>
            <a:pPr marL="342900" indent="-342900">
              <a:buFont typeface="Arial" panose="020B0604020202020204" pitchFamily="34" charset="0"/>
              <a:buChar char="•"/>
            </a:pPr>
            <a:r>
              <a:rPr lang="vi-VN" sz="2000">
                <a:latin typeface="+mj-lt"/>
              </a:rPr>
              <a:t>1 khu hành chính + Wi-Fi cho giáo viên.</a:t>
            </a:r>
          </a:p>
        </p:txBody>
      </p:sp>
      <p:sp>
        <p:nvSpPr>
          <p:cNvPr id="4" name="Rectangle 3">
            <a:extLst>
              <a:ext uri="{FF2B5EF4-FFF2-40B4-BE49-F238E27FC236}">
                <a16:creationId xmlns:a16="http://schemas.microsoft.com/office/drawing/2014/main" id="{34C111E3-3A86-44CA-8618-2B23BF2D0989}"/>
              </a:ext>
            </a:extLst>
          </p:cNvPr>
          <p:cNvSpPr/>
          <p:nvPr/>
        </p:nvSpPr>
        <p:spPr>
          <a:xfrm>
            <a:off x="5519057" y="1211730"/>
            <a:ext cx="6096000" cy="1323439"/>
          </a:xfrm>
          <a:prstGeom prst="rect">
            <a:avLst/>
          </a:prstGeom>
        </p:spPr>
        <p:txBody>
          <a:bodyPr>
            <a:spAutoFit/>
          </a:bodyPr>
          <a:lstStyle/>
          <a:p>
            <a:pPr marL="342900" indent="-342900">
              <a:buFont typeface="Wingdings" panose="05000000000000000000" pitchFamily="2" charset="2"/>
              <a:buChar char="Ø"/>
            </a:pPr>
            <a:r>
              <a:rPr lang="vi-VN" sz="2000" b="1">
                <a:latin typeface="+mj-lt"/>
              </a:rPr>
              <a:t>Yêu cầu hệ thống:</a:t>
            </a:r>
            <a:endParaRPr lang="vi-VN" sz="2000">
              <a:latin typeface="+mj-lt"/>
            </a:endParaRPr>
          </a:p>
          <a:p>
            <a:pPr marL="342900" indent="-342900">
              <a:buFont typeface="Arial" panose="020B0604020202020204" pitchFamily="34" charset="0"/>
              <a:buChar char="•"/>
            </a:pPr>
            <a:r>
              <a:rPr lang="vi-VN" sz="2000">
                <a:latin typeface="+mj-lt"/>
              </a:rPr>
              <a:t>Mạng tốc độ </a:t>
            </a:r>
            <a:r>
              <a:rPr lang="vi-VN" sz="2000" b="1">
                <a:latin typeface="+mj-lt"/>
              </a:rPr>
              <a:t>≥1Gbps</a:t>
            </a:r>
            <a:r>
              <a:rPr lang="vi-VN" sz="2000">
                <a:latin typeface="+mj-lt"/>
              </a:rPr>
              <a:t>, ổn định.</a:t>
            </a:r>
          </a:p>
          <a:p>
            <a:pPr marL="342900" indent="-342900">
              <a:buFont typeface="Arial" panose="020B0604020202020204" pitchFamily="34" charset="0"/>
              <a:buChar char="•"/>
            </a:pPr>
            <a:r>
              <a:rPr lang="vi-VN" sz="2000">
                <a:latin typeface="+mj-lt"/>
              </a:rPr>
              <a:t>Phân tách VLAN, cấp IP tự động, quản lý tập trung.</a:t>
            </a:r>
          </a:p>
          <a:p>
            <a:pPr marL="342900" indent="-342900">
              <a:buFont typeface="Arial" panose="020B0604020202020204" pitchFamily="34" charset="0"/>
              <a:buChar char="•"/>
            </a:pPr>
            <a:r>
              <a:rPr lang="vi-VN" sz="2000">
                <a:latin typeface="+mj-lt"/>
              </a:rPr>
              <a:t>In ấn mạng chung và bảo mật truy cập dữ liệu.</a:t>
            </a:r>
          </a:p>
        </p:txBody>
      </p:sp>
      <p:pic>
        <p:nvPicPr>
          <p:cNvPr id="7" name="Picture 6">
            <a:extLst>
              <a:ext uri="{FF2B5EF4-FFF2-40B4-BE49-F238E27FC236}">
                <a16:creationId xmlns:a16="http://schemas.microsoft.com/office/drawing/2014/main" id="{2530D3DD-7896-4CE5-8DF7-711CCFFC9710}"/>
              </a:ext>
            </a:extLst>
          </p:cNvPr>
          <p:cNvPicPr/>
          <p:nvPr/>
        </p:nvPicPr>
        <p:blipFill>
          <a:blip r:embed="rId2"/>
          <a:stretch>
            <a:fillRect/>
          </a:stretch>
        </p:blipFill>
        <p:spPr>
          <a:xfrm>
            <a:off x="768365" y="2602133"/>
            <a:ext cx="9943177" cy="4102735"/>
          </a:xfrm>
          <a:prstGeom prst="rect">
            <a:avLst/>
          </a:prstGeom>
        </p:spPr>
      </p:pic>
    </p:spTree>
    <p:extLst>
      <p:ext uri="{BB962C8B-B14F-4D97-AF65-F5344CB8AC3E}">
        <p14:creationId xmlns:p14="http://schemas.microsoft.com/office/powerpoint/2010/main" val="2914696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8" name="Rectangle 7">
            <a:extLst>
              <a:ext uri="{FF2B5EF4-FFF2-40B4-BE49-F238E27FC236}">
                <a16:creationId xmlns:a16="http://schemas.microsoft.com/office/drawing/2014/main" id="{1E3AA29E-4278-4B3B-9472-6B951A2853DF}"/>
              </a:ext>
            </a:extLst>
          </p:cNvPr>
          <p:cNvSpPr/>
          <p:nvPr/>
        </p:nvSpPr>
        <p:spPr>
          <a:xfrm>
            <a:off x="133578" y="44540"/>
            <a:ext cx="6494085" cy="646331"/>
          </a:xfrm>
          <a:prstGeom prst="rect">
            <a:avLst/>
          </a:prstGeom>
        </p:spPr>
        <p:txBody>
          <a:bodyPr wrap="none">
            <a:spAutoFit/>
          </a:bodyPr>
          <a:lstStyle/>
          <a:p>
            <a:r>
              <a:rPr lang="vi-VN" sz="3600" b="1"/>
              <a:t>2. Phân Tích Hệ Thống Mạng</a:t>
            </a:r>
          </a:p>
        </p:txBody>
      </p:sp>
      <p:sp>
        <p:nvSpPr>
          <p:cNvPr id="2" name="Rectangle 1">
            <a:extLst>
              <a:ext uri="{FF2B5EF4-FFF2-40B4-BE49-F238E27FC236}">
                <a16:creationId xmlns:a16="http://schemas.microsoft.com/office/drawing/2014/main" id="{8EEE5A06-1295-46FB-9D68-507095453E5E}"/>
              </a:ext>
            </a:extLst>
          </p:cNvPr>
          <p:cNvSpPr/>
          <p:nvPr/>
        </p:nvSpPr>
        <p:spPr>
          <a:xfrm>
            <a:off x="326570" y="735411"/>
            <a:ext cx="9514115" cy="1631216"/>
          </a:xfrm>
          <a:prstGeom prst="rect">
            <a:avLst/>
          </a:prstGeom>
        </p:spPr>
        <p:txBody>
          <a:bodyPr wrap="square">
            <a:spAutoFit/>
          </a:bodyPr>
          <a:lstStyle/>
          <a:p>
            <a:r>
              <a:rPr lang="vi-VN" sz="2800" b="1">
                <a:latin typeface="+mj-lt"/>
              </a:rPr>
              <a:t>2.2. Phân tích hiện trạng</a:t>
            </a:r>
          </a:p>
          <a:p>
            <a:pPr>
              <a:buFont typeface="Arial" panose="020B0604020202020204" pitchFamily="34" charset="0"/>
              <a:buChar char="•"/>
            </a:pPr>
            <a:r>
              <a:rPr lang="vi-VN">
                <a:latin typeface="+mj-lt"/>
              </a:rPr>
              <a:t>Dây cáp CAT5 cũ, switch 100Mbps, không có router riêng.</a:t>
            </a:r>
          </a:p>
          <a:p>
            <a:pPr>
              <a:buFont typeface="Arial" panose="020B0604020202020204" pitchFamily="34" charset="0"/>
              <a:buChar char="•"/>
            </a:pPr>
            <a:r>
              <a:rPr lang="vi-VN">
                <a:latin typeface="+mj-lt"/>
              </a:rPr>
              <a:t>IP cấu hình thủ công → thường trùng IP, không có DNS nội bộ.</a:t>
            </a:r>
          </a:p>
          <a:p>
            <a:pPr>
              <a:buFont typeface="Arial" panose="020B0604020202020204" pitchFamily="34" charset="0"/>
              <a:buChar char="•"/>
            </a:pPr>
            <a:r>
              <a:rPr lang="vi-VN">
                <a:latin typeface="+mj-lt"/>
              </a:rPr>
              <a:t>Chưa có server quản lý tài khoản → máy nào cũng quyền admin.</a:t>
            </a:r>
          </a:p>
          <a:p>
            <a:pPr>
              <a:buFont typeface="Arial" panose="020B0604020202020204" pitchFamily="34" charset="0"/>
              <a:buChar char="•"/>
            </a:pPr>
            <a:r>
              <a:rPr lang="vi-VN">
                <a:latin typeface="+mj-lt"/>
              </a:rPr>
              <a:t>Chưa có cơ chế sao lưu, không tách mạng học sinh và quản trị.</a:t>
            </a:r>
          </a:p>
        </p:txBody>
      </p:sp>
      <p:graphicFrame>
        <p:nvGraphicFramePr>
          <p:cNvPr id="4" name="Table 3">
            <a:extLst>
              <a:ext uri="{FF2B5EF4-FFF2-40B4-BE49-F238E27FC236}">
                <a16:creationId xmlns:a16="http://schemas.microsoft.com/office/drawing/2014/main" id="{969DFAE4-8A5F-4D31-A4CD-198768B2CEF8}"/>
              </a:ext>
            </a:extLst>
          </p:cNvPr>
          <p:cNvGraphicFramePr>
            <a:graphicFrameLocks noGrp="1"/>
          </p:cNvGraphicFramePr>
          <p:nvPr>
            <p:extLst>
              <p:ext uri="{D42A27DB-BD31-4B8C-83A1-F6EECF244321}">
                <p14:modId xmlns:p14="http://schemas.microsoft.com/office/powerpoint/2010/main" val="3524112858"/>
              </p:ext>
            </p:extLst>
          </p:nvPr>
        </p:nvGraphicFramePr>
        <p:xfrm>
          <a:off x="326570" y="2755617"/>
          <a:ext cx="11658600" cy="4088323"/>
        </p:xfrm>
        <a:graphic>
          <a:graphicData uri="http://schemas.openxmlformats.org/drawingml/2006/table">
            <a:tbl>
              <a:tblPr firstRow="1" bandRow="1">
                <a:tableStyleId>{5940675A-B579-460E-94D1-54222C63F5DA}</a:tableStyleId>
              </a:tblPr>
              <a:tblGrid>
                <a:gridCol w="2456167">
                  <a:extLst>
                    <a:ext uri="{9D8B030D-6E8A-4147-A177-3AD203B41FA5}">
                      <a16:colId xmlns:a16="http://schemas.microsoft.com/office/drawing/2014/main" val="1766794397"/>
                    </a:ext>
                  </a:extLst>
                </a:gridCol>
                <a:gridCol w="5687388">
                  <a:extLst>
                    <a:ext uri="{9D8B030D-6E8A-4147-A177-3AD203B41FA5}">
                      <a16:colId xmlns:a16="http://schemas.microsoft.com/office/drawing/2014/main" val="2610503929"/>
                    </a:ext>
                  </a:extLst>
                </a:gridCol>
                <a:gridCol w="3515045">
                  <a:extLst>
                    <a:ext uri="{9D8B030D-6E8A-4147-A177-3AD203B41FA5}">
                      <a16:colId xmlns:a16="http://schemas.microsoft.com/office/drawing/2014/main" val="3802243250"/>
                    </a:ext>
                  </a:extLst>
                </a:gridCol>
              </a:tblGrid>
              <a:tr h="316180">
                <a:tc>
                  <a:txBody>
                    <a:bodyPr/>
                    <a:lstStyle/>
                    <a:p>
                      <a:pPr algn="ctr"/>
                      <a:r>
                        <a:rPr lang="vi-VN" sz="2000" b="1">
                          <a:latin typeface="+mj-lt"/>
                        </a:rPr>
                        <a:t>Vấn đề</a:t>
                      </a:r>
                    </a:p>
                  </a:txBody>
                  <a:tcPr/>
                </a:tc>
                <a:tc>
                  <a:txBody>
                    <a:bodyPr/>
                    <a:lstStyle/>
                    <a:p>
                      <a:pPr algn="ctr"/>
                      <a:r>
                        <a:rPr lang="vi-VN" sz="2000" b="1">
                          <a:latin typeface="+mj-lt"/>
                        </a:rPr>
                        <a:t>Hướng cải tiến đề xuất</a:t>
                      </a:r>
                    </a:p>
                  </a:txBody>
                  <a:tcPr/>
                </a:tc>
                <a:tc>
                  <a:txBody>
                    <a:bodyPr/>
                    <a:lstStyle/>
                    <a:p>
                      <a:pPr algn="ctr"/>
                      <a:r>
                        <a:rPr lang="vi-VN" sz="2000" b="1">
                          <a:latin typeface="+mj-lt"/>
                        </a:rPr>
                        <a:t>Lợi ích đạt được</a:t>
                      </a:r>
                    </a:p>
                  </a:txBody>
                  <a:tcPr/>
                </a:tc>
                <a:extLst>
                  <a:ext uri="{0D108BD9-81ED-4DB2-BD59-A6C34878D82A}">
                    <a16:rowId xmlns:a16="http://schemas.microsoft.com/office/drawing/2014/main" val="2002984684"/>
                  </a:ext>
                </a:extLst>
              </a:tr>
              <a:tr h="553315">
                <a:tc>
                  <a:txBody>
                    <a:bodyPr/>
                    <a:lstStyle/>
                    <a:p>
                      <a:r>
                        <a:rPr lang="vi-VN">
                          <a:latin typeface="+mj-lt"/>
                        </a:rPr>
                        <a:t>Mạng dạng chuỗi, dễ nghẽn</a:t>
                      </a:r>
                    </a:p>
                  </a:txBody>
                  <a:tcPr/>
                </a:tc>
                <a:tc>
                  <a:txBody>
                    <a:bodyPr/>
                    <a:lstStyle/>
                    <a:p>
                      <a:r>
                        <a:rPr lang="vi-VN">
                          <a:latin typeface="+mj-lt"/>
                        </a:rPr>
                        <a:t>Thiết kế lại theo mô hình </a:t>
                      </a:r>
                      <a:r>
                        <a:rPr lang="vi-VN" b="1">
                          <a:latin typeface="+mj-lt"/>
                        </a:rPr>
                        <a:t>Star topology</a:t>
                      </a:r>
                      <a:r>
                        <a:rPr lang="vi-VN">
                          <a:latin typeface="+mj-lt"/>
                        </a:rPr>
                        <a:t>, có </a:t>
                      </a:r>
                      <a:r>
                        <a:rPr lang="vi-VN" b="1">
                          <a:latin typeface="+mj-lt"/>
                        </a:rPr>
                        <a:t>Core switch trung tâm</a:t>
                      </a:r>
                      <a:endParaRPr lang="vi-VN">
                        <a:latin typeface="+mj-lt"/>
                      </a:endParaRPr>
                    </a:p>
                  </a:txBody>
                  <a:tcPr/>
                </a:tc>
                <a:tc>
                  <a:txBody>
                    <a:bodyPr/>
                    <a:lstStyle/>
                    <a:p>
                      <a:r>
                        <a:rPr lang="vi-VN">
                          <a:latin typeface="+mj-lt"/>
                        </a:rPr>
                        <a:t>Tăng tốc độ truy cập, dễ mở rộng và kiểm soát lưu lượng</a:t>
                      </a:r>
                    </a:p>
                  </a:txBody>
                  <a:tcPr/>
                </a:tc>
                <a:extLst>
                  <a:ext uri="{0D108BD9-81ED-4DB2-BD59-A6C34878D82A}">
                    <a16:rowId xmlns:a16="http://schemas.microsoft.com/office/drawing/2014/main" val="3360531770"/>
                  </a:ext>
                </a:extLst>
              </a:tr>
              <a:tr h="553315">
                <a:tc>
                  <a:txBody>
                    <a:bodyPr/>
                    <a:lstStyle/>
                    <a:p>
                      <a:r>
                        <a:rPr lang="vi-VN">
                          <a:latin typeface="+mj-lt"/>
                        </a:rPr>
                        <a:t>Switch cũ không VLAN</a:t>
                      </a:r>
                    </a:p>
                  </a:txBody>
                  <a:tcPr/>
                </a:tc>
                <a:tc>
                  <a:txBody>
                    <a:bodyPr/>
                    <a:lstStyle/>
                    <a:p>
                      <a:r>
                        <a:rPr lang="vi-VN">
                          <a:latin typeface="+mj-lt"/>
                        </a:rPr>
                        <a:t>Nâng cấp lên </a:t>
                      </a:r>
                      <a:r>
                        <a:rPr lang="vi-VN" b="1">
                          <a:latin typeface="+mj-lt"/>
                        </a:rPr>
                        <a:t>Switch Gigabit Layer 2/3</a:t>
                      </a:r>
                      <a:r>
                        <a:rPr lang="vi-VN">
                          <a:latin typeface="+mj-lt"/>
                        </a:rPr>
                        <a:t> hỗ trợ VLAN 802.1Q</a:t>
                      </a:r>
                    </a:p>
                  </a:txBody>
                  <a:tcPr/>
                </a:tc>
                <a:tc>
                  <a:txBody>
                    <a:bodyPr/>
                    <a:lstStyle/>
                    <a:p>
                      <a:r>
                        <a:rPr lang="vi-VN">
                          <a:latin typeface="+mj-lt"/>
                        </a:rPr>
                        <a:t>Cách ly các phòng học, tăng bảo mật</a:t>
                      </a:r>
                    </a:p>
                  </a:txBody>
                  <a:tcPr/>
                </a:tc>
                <a:extLst>
                  <a:ext uri="{0D108BD9-81ED-4DB2-BD59-A6C34878D82A}">
                    <a16:rowId xmlns:a16="http://schemas.microsoft.com/office/drawing/2014/main" val="2266023679"/>
                  </a:ext>
                </a:extLst>
              </a:tr>
              <a:tr h="491683">
                <a:tc>
                  <a:txBody>
                    <a:bodyPr/>
                    <a:lstStyle/>
                    <a:p>
                      <a:r>
                        <a:rPr lang="vi-VN">
                          <a:latin typeface="+mj-lt"/>
                        </a:rPr>
                        <a:t>IP trùng lặp</a:t>
                      </a:r>
                    </a:p>
                  </a:txBody>
                  <a:tcPr/>
                </a:tc>
                <a:tc>
                  <a:txBody>
                    <a:bodyPr/>
                    <a:lstStyle/>
                    <a:p>
                      <a:r>
                        <a:rPr lang="vi-VN">
                          <a:latin typeface="+mj-lt"/>
                        </a:rPr>
                        <a:t>Triển khai </a:t>
                      </a:r>
                      <a:r>
                        <a:rPr lang="vi-VN" b="1">
                          <a:latin typeface="+mj-lt"/>
                        </a:rPr>
                        <a:t>DHCP Server</a:t>
                      </a:r>
                      <a:r>
                        <a:rPr lang="vi-VN">
                          <a:latin typeface="+mj-lt"/>
                        </a:rPr>
                        <a:t> cấp phát IP tự động theo VLAN</a:t>
                      </a:r>
                    </a:p>
                  </a:txBody>
                  <a:tcPr/>
                </a:tc>
                <a:tc>
                  <a:txBody>
                    <a:bodyPr/>
                    <a:lstStyle/>
                    <a:p>
                      <a:r>
                        <a:rPr lang="vi-VN">
                          <a:latin typeface="+mj-lt"/>
                        </a:rPr>
                        <a:t>Quản lý IP dễ dàng, không xung đột</a:t>
                      </a:r>
                    </a:p>
                  </a:txBody>
                  <a:tcPr/>
                </a:tc>
                <a:extLst>
                  <a:ext uri="{0D108BD9-81ED-4DB2-BD59-A6C34878D82A}">
                    <a16:rowId xmlns:a16="http://schemas.microsoft.com/office/drawing/2014/main" val="1410108912"/>
                  </a:ext>
                </a:extLst>
              </a:tr>
              <a:tr h="553315">
                <a:tc>
                  <a:txBody>
                    <a:bodyPr/>
                    <a:lstStyle/>
                    <a:p>
                      <a:r>
                        <a:rPr lang="vi-VN">
                          <a:latin typeface="+mj-lt"/>
                        </a:rPr>
                        <a:t>Tài khoản quản trị chung</a:t>
                      </a:r>
                    </a:p>
                  </a:txBody>
                  <a:tcPr/>
                </a:tc>
                <a:tc>
                  <a:txBody>
                    <a:bodyPr/>
                    <a:lstStyle/>
                    <a:p>
                      <a:r>
                        <a:rPr lang="en-US">
                          <a:latin typeface="+mj-lt"/>
                        </a:rPr>
                        <a:t>Cài </a:t>
                      </a:r>
                      <a:r>
                        <a:rPr lang="en-US" b="1">
                          <a:latin typeface="+mj-lt"/>
                        </a:rPr>
                        <a:t>Active Directory</a:t>
                      </a:r>
                      <a:r>
                        <a:rPr lang="en-US">
                          <a:latin typeface="+mj-lt"/>
                        </a:rPr>
                        <a:t>, phân quyền theo nhóm (Student, Teacher, Admin)</a:t>
                      </a:r>
                      <a:endParaRPr lang="vi-VN">
                        <a:latin typeface="+mj-lt"/>
                      </a:endParaRPr>
                    </a:p>
                  </a:txBody>
                  <a:tcPr/>
                </a:tc>
                <a:tc>
                  <a:txBody>
                    <a:bodyPr/>
                    <a:lstStyle/>
                    <a:p>
                      <a:r>
                        <a:rPr lang="vi-VN">
                          <a:latin typeface="+mj-lt"/>
                        </a:rPr>
                        <a:t>Quản lý người dùng tập trung, an toàn</a:t>
                      </a:r>
                    </a:p>
                  </a:txBody>
                  <a:tcPr/>
                </a:tc>
                <a:extLst>
                  <a:ext uri="{0D108BD9-81ED-4DB2-BD59-A6C34878D82A}">
                    <a16:rowId xmlns:a16="http://schemas.microsoft.com/office/drawing/2014/main" val="2967315630"/>
                  </a:ext>
                </a:extLst>
              </a:tr>
              <a:tr h="553315">
                <a:tc>
                  <a:txBody>
                    <a:bodyPr/>
                    <a:lstStyle/>
                    <a:p>
                      <a:r>
                        <a:rPr lang="vi-VN">
                          <a:latin typeface="+mj-lt"/>
                        </a:rPr>
                        <a:t>Không có sao lưu</a:t>
                      </a:r>
                    </a:p>
                  </a:txBody>
                  <a:tcPr/>
                </a:tc>
                <a:tc>
                  <a:txBody>
                    <a:bodyPr/>
                    <a:lstStyle/>
                    <a:p>
                      <a:r>
                        <a:rPr lang="vi-VN">
                          <a:latin typeface="+mj-lt"/>
                        </a:rPr>
                        <a:t>Thêm </a:t>
                      </a:r>
                      <a:r>
                        <a:rPr lang="vi-VN" b="1">
                          <a:latin typeface="+mj-lt"/>
                        </a:rPr>
                        <a:t>NAS lưu trữ tập trung</a:t>
                      </a:r>
                      <a:r>
                        <a:rPr lang="vi-VN">
                          <a:latin typeface="+mj-lt"/>
                        </a:rPr>
                        <a:t> và sao lưu định kỳ</a:t>
                      </a:r>
                    </a:p>
                  </a:txBody>
                  <a:tcPr/>
                </a:tc>
                <a:tc>
                  <a:txBody>
                    <a:bodyPr/>
                    <a:lstStyle/>
                    <a:p>
                      <a:r>
                        <a:rPr lang="vi-VN">
                          <a:latin typeface="+mj-lt"/>
                        </a:rPr>
                        <a:t>Đảm bảo an toàn dữ liệu, phục hồi nhanh</a:t>
                      </a:r>
                    </a:p>
                  </a:txBody>
                  <a:tcPr/>
                </a:tc>
                <a:extLst>
                  <a:ext uri="{0D108BD9-81ED-4DB2-BD59-A6C34878D82A}">
                    <a16:rowId xmlns:a16="http://schemas.microsoft.com/office/drawing/2014/main" val="332357469"/>
                  </a:ext>
                </a:extLst>
              </a:tr>
              <a:tr h="553315">
                <a:tc>
                  <a:txBody>
                    <a:bodyPr/>
                    <a:lstStyle/>
                    <a:p>
                      <a:r>
                        <a:rPr lang="vi-VN">
                          <a:latin typeface="+mj-lt"/>
                        </a:rPr>
                        <a:t>Wi-Fi không bảo mật</a:t>
                      </a:r>
                    </a:p>
                  </a:txBody>
                  <a:tcPr/>
                </a:tc>
                <a:tc>
                  <a:txBody>
                    <a:bodyPr/>
                    <a:lstStyle/>
                    <a:p>
                      <a:r>
                        <a:rPr lang="vi-VN">
                          <a:latin typeface="+mj-lt"/>
                        </a:rPr>
                        <a:t>Dùng </a:t>
                      </a:r>
                      <a:r>
                        <a:rPr lang="vi-VN" b="1">
                          <a:latin typeface="+mj-lt"/>
                        </a:rPr>
                        <a:t>Access Point doanh nghiệp</a:t>
                      </a:r>
                      <a:r>
                        <a:rPr lang="vi-VN">
                          <a:latin typeface="+mj-lt"/>
                        </a:rPr>
                        <a:t> hỗ trợ VLAN + WPA2 Enterprise</a:t>
                      </a:r>
                    </a:p>
                  </a:txBody>
                  <a:tcPr/>
                </a:tc>
                <a:tc>
                  <a:txBody>
                    <a:bodyPr/>
                    <a:lstStyle/>
                    <a:p>
                      <a:r>
                        <a:rPr lang="vi-VN">
                          <a:latin typeface="+mj-lt"/>
                        </a:rPr>
                        <a:t>Kiểm soát truy cập, tách mạng khách và quản trị</a:t>
                      </a:r>
                    </a:p>
                  </a:txBody>
                  <a:tcPr/>
                </a:tc>
                <a:extLst>
                  <a:ext uri="{0D108BD9-81ED-4DB2-BD59-A6C34878D82A}">
                    <a16:rowId xmlns:a16="http://schemas.microsoft.com/office/drawing/2014/main" val="3661445625"/>
                  </a:ext>
                </a:extLst>
              </a:tr>
            </a:tbl>
          </a:graphicData>
        </a:graphic>
      </p:graphicFrame>
      <p:sp>
        <p:nvSpPr>
          <p:cNvPr id="6" name="Rectangle 5">
            <a:extLst>
              <a:ext uri="{FF2B5EF4-FFF2-40B4-BE49-F238E27FC236}">
                <a16:creationId xmlns:a16="http://schemas.microsoft.com/office/drawing/2014/main" id="{9A7CC8CD-5213-4152-A382-23B718AE7934}"/>
              </a:ext>
            </a:extLst>
          </p:cNvPr>
          <p:cNvSpPr/>
          <p:nvPr/>
        </p:nvSpPr>
        <p:spPr>
          <a:xfrm>
            <a:off x="326570" y="2232397"/>
            <a:ext cx="9943495" cy="523220"/>
          </a:xfrm>
          <a:prstGeom prst="rect">
            <a:avLst/>
          </a:prstGeom>
        </p:spPr>
        <p:txBody>
          <a:bodyPr wrap="square">
            <a:spAutoFit/>
          </a:bodyPr>
          <a:lstStyle/>
          <a:p>
            <a:r>
              <a:rPr lang="vi-VN" sz="2800" b="1">
                <a:latin typeface="+mj-lt"/>
              </a:rPr>
              <a:t>2.3. Đề xuất cải tiến hệ thống khắc phục và cải tiến toàn diện:</a:t>
            </a:r>
            <a:endParaRPr lang="vi-VN" sz="2800">
              <a:latin typeface="+mj-lt"/>
            </a:endParaRPr>
          </a:p>
        </p:txBody>
      </p:sp>
    </p:spTree>
    <p:extLst>
      <p:ext uri="{BB962C8B-B14F-4D97-AF65-F5344CB8AC3E}">
        <p14:creationId xmlns:p14="http://schemas.microsoft.com/office/powerpoint/2010/main" val="3165213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2" name="Rectangle 1">
            <a:extLst>
              <a:ext uri="{FF2B5EF4-FFF2-40B4-BE49-F238E27FC236}">
                <a16:creationId xmlns:a16="http://schemas.microsoft.com/office/drawing/2014/main" id="{55B06806-1AA0-4946-AC9C-92B91F3E9179}"/>
              </a:ext>
            </a:extLst>
          </p:cNvPr>
          <p:cNvSpPr/>
          <p:nvPr/>
        </p:nvSpPr>
        <p:spPr>
          <a:xfrm>
            <a:off x="555170" y="863377"/>
            <a:ext cx="7517411" cy="523220"/>
          </a:xfrm>
          <a:prstGeom prst="rect">
            <a:avLst/>
          </a:prstGeom>
        </p:spPr>
        <p:txBody>
          <a:bodyPr wrap="square">
            <a:spAutoFit/>
          </a:bodyPr>
          <a:lstStyle/>
          <a:p>
            <a:r>
              <a:rPr lang="vi-VN" sz="2800" b="1">
                <a:latin typeface="+mj-lt"/>
              </a:rPr>
              <a:t>2.3. Kiến trúc mạng của hệ thống: </a:t>
            </a:r>
            <a:r>
              <a:rPr lang="vi-VN" sz="2800">
                <a:latin typeface="+mj-lt"/>
              </a:rPr>
              <a:t>Mô hình logic</a:t>
            </a:r>
            <a:endParaRPr lang="vi-VN" sz="2800" b="1">
              <a:latin typeface="+mj-lt"/>
            </a:endParaRPr>
          </a:p>
        </p:txBody>
      </p:sp>
      <p:sp>
        <p:nvSpPr>
          <p:cNvPr id="7" name="Rectangle 6">
            <a:extLst>
              <a:ext uri="{FF2B5EF4-FFF2-40B4-BE49-F238E27FC236}">
                <a16:creationId xmlns:a16="http://schemas.microsoft.com/office/drawing/2014/main" id="{D2293C18-8115-4112-BC92-056EFA743EDB}"/>
              </a:ext>
            </a:extLst>
          </p:cNvPr>
          <p:cNvSpPr/>
          <p:nvPr/>
        </p:nvSpPr>
        <p:spPr>
          <a:xfrm>
            <a:off x="133578" y="44540"/>
            <a:ext cx="6494085" cy="646331"/>
          </a:xfrm>
          <a:prstGeom prst="rect">
            <a:avLst/>
          </a:prstGeom>
        </p:spPr>
        <p:txBody>
          <a:bodyPr wrap="none">
            <a:spAutoFit/>
          </a:bodyPr>
          <a:lstStyle/>
          <a:p>
            <a:r>
              <a:rPr lang="vi-VN" sz="3600" b="1"/>
              <a:t>2. Phân Tích Hệ Thống Mạng</a:t>
            </a:r>
          </a:p>
        </p:txBody>
      </p:sp>
      <p:pic>
        <p:nvPicPr>
          <p:cNvPr id="9" name="Picture 8">
            <a:extLst>
              <a:ext uri="{FF2B5EF4-FFF2-40B4-BE49-F238E27FC236}">
                <a16:creationId xmlns:a16="http://schemas.microsoft.com/office/drawing/2014/main" id="{5C80A153-2E1A-4A9E-A6D5-C1AFF9AC0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2394" y="1211105"/>
            <a:ext cx="7609606" cy="5073070"/>
          </a:xfrm>
          <a:prstGeom prst="rect">
            <a:avLst/>
          </a:prstGeom>
        </p:spPr>
      </p:pic>
      <p:sp>
        <p:nvSpPr>
          <p:cNvPr id="10" name="Rectangle 9">
            <a:extLst>
              <a:ext uri="{FF2B5EF4-FFF2-40B4-BE49-F238E27FC236}">
                <a16:creationId xmlns:a16="http://schemas.microsoft.com/office/drawing/2014/main" id="{13047502-83C3-4F84-A7D6-D44B06C13F74}"/>
              </a:ext>
            </a:extLst>
          </p:cNvPr>
          <p:cNvSpPr/>
          <p:nvPr/>
        </p:nvSpPr>
        <p:spPr>
          <a:xfrm>
            <a:off x="332620" y="1533537"/>
            <a:ext cx="5292325" cy="3970318"/>
          </a:xfrm>
          <a:prstGeom prst="rect">
            <a:avLst/>
          </a:prstGeom>
        </p:spPr>
        <p:txBody>
          <a:bodyPr wrap="square">
            <a:spAutoFit/>
          </a:bodyPr>
          <a:lstStyle/>
          <a:p>
            <a:r>
              <a:rPr lang="vi-VN">
                <a:latin typeface="Times New Roman" panose="02020603050405020304" pitchFamily="18" charset="0"/>
                <a:ea typeface="Times New Roman" panose="02020603050405020304" pitchFamily="18" charset="0"/>
              </a:rPr>
              <a:t>* Hệ thống mạng được thiết kế theo mô hình mạng phân cấp (Hierarchical Network Model) gồm 3 lớp:</a:t>
            </a:r>
          </a:p>
          <a:p>
            <a:pPr marL="342900" lvl="0" indent="-342900">
              <a:tabLst>
                <a:tab pos="457200" algn="l"/>
              </a:tabLst>
            </a:pPr>
            <a:r>
              <a:rPr lang="vi-VN" b="1">
                <a:latin typeface="Times New Roman" panose="02020603050405020304" pitchFamily="18" charset="0"/>
                <a:ea typeface="Times New Roman" panose="02020603050405020304" pitchFamily="18" charset="0"/>
              </a:rPr>
              <a:t>- Core/Distribution (Trung tâm mạng)</a:t>
            </a:r>
            <a:endParaRPr lang="vi-VN">
              <a:latin typeface="Times New Roman" panose="02020603050405020304" pitchFamily="18" charset="0"/>
              <a:ea typeface="Times New Roman" panose="02020603050405020304" pitchFamily="18" charset="0"/>
            </a:endParaRPr>
          </a:p>
          <a:p>
            <a:pPr lvl="1">
              <a:buSzPts val="1000"/>
              <a:tabLst>
                <a:tab pos="914400" algn="l"/>
              </a:tabLst>
            </a:pPr>
            <a:r>
              <a:rPr lang="vi-VN">
                <a:latin typeface="Times New Roman" panose="02020603050405020304" pitchFamily="18" charset="0"/>
                <a:ea typeface="Times New Roman" panose="02020603050405020304" pitchFamily="18" charset="0"/>
                <a:cs typeface="Times New Roman" panose="02020603050405020304" pitchFamily="18" charset="0"/>
              </a:rPr>
              <a:t>+ Router/Firewall (ASA)</a:t>
            </a:r>
          </a:p>
          <a:p>
            <a:pPr lvl="1">
              <a:buSzPts val="1000"/>
              <a:tabLst>
                <a:tab pos="914400" algn="l"/>
              </a:tabLst>
            </a:pPr>
            <a:r>
              <a:rPr lang="vi-VN">
                <a:latin typeface="Times New Roman" panose="02020603050405020304" pitchFamily="18" charset="0"/>
                <a:ea typeface="Times New Roman" panose="02020603050405020304" pitchFamily="18" charset="0"/>
                <a:cs typeface="Times New Roman" panose="02020603050405020304" pitchFamily="18" charset="0"/>
              </a:rPr>
              <a:t>+ Thực hiện định tuyến, NAT, bảo mật và kết nối Internet</a:t>
            </a:r>
          </a:p>
          <a:p>
            <a:pPr marL="342900" lvl="0" indent="-342900">
              <a:tabLst>
                <a:tab pos="457200" algn="l"/>
              </a:tabLst>
            </a:pPr>
            <a:r>
              <a:rPr lang="vi-VN" b="1">
                <a:latin typeface="Times New Roman" panose="02020603050405020304" pitchFamily="18" charset="0"/>
                <a:ea typeface="Times New Roman" panose="02020603050405020304" pitchFamily="18" charset="0"/>
              </a:rPr>
              <a:t>- Access Layer (Lớp truy cập)</a:t>
            </a:r>
            <a:endParaRPr lang="vi-VN">
              <a:latin typeface="Times New Roman" panose="02020603050405020304" pitchFamily="18" charset="0"/>
              <a:ea typeface="Times New Roman" panose="02020603050405020304" pitchFamily="18" charset="0"/>
            </a:endParaRPr>
          </a:p>
          <a:p>
            <a:pPr lvl="1">
              <a:buSzPts val="1000"/>
              <a:tabLst>
                <a:tab pos="914400" algn="l"/>
              </a:tabLst>
            </a:pPr>
            <a:r>
              <a:rPr lang="vi-VN">
                <a:latin typeface="Times New Roman" panose="02020603050405020304" pitchFamily="18" charset="0"/>
                <a:ea typeface="Times New Roman" panose="02020603050405020304" pitchFamily="18" charset="0"/>
                <a:cs typeface="Times New Roman" panose="02020603050405020304" pitchFamily="18" charset="0"/>
              </a:rPr>
              <a:t>+ Các switch tại từng phòng ban (GV, LAB, SERVER)</a:t>
            </a:r>
          </a:p>
          <a:p>
            <a:pPr lvl="1">
              <a:buSzPts val="1000"/>
              <a:tabLst>
                <a:tab pos="914400" algn="l"/>
              </a:tabLst>
            </a:pPr>
            <a:r>
              <a:rPr lang="vi-VN">
                <a:latin typeface="Times New Roman" panose="02020603050405020304" pitchFamily="18" charset="0"/>
                <a:ea typeface="Times New Roman" panose="02020603050405020304" pitchFamily="18" charset="0"/>
                <a:cs typeface="Times New Roman" panose="02020603050405020304" pitchFamily="18" charset="0"/>
              </a:rPr>
              <a:t>+ Kết nối trực tiếp đến các máy trạm và thiết bị đầu cuối</a:t>
            </a:r>
          </a:p>
          <a:p>
            <a:pPr marL="342900" lvl="0" indent="-342900">
              <a:tabLst>
                <a:tab pos="457200" algn="l"/>
              </a:tabLst>
            </a:pPr>
            <a:r>
              <a:rPr lang="vi-VN" b="1">
                <a:latin typeface="Times New Roman" panose="02020603050405020304" pitchFamily="18" charset="0"/>
                <a:ea typeface="Times New Roman" panose="02020603050405020304" pitchFamily="18" charset="0"/>
              </a:rPr>
              <a:t>- Edge / Internet</a:t>
            </a:r>
            <a:endParaRPr lang="vi-VN">
              <a:latin typeface="Times New Roman" panose="02020603050405020304" pitchFamily="18" charset="0"/>
              <a:ea typeface="Times New Roman" panose="02020603050405020304" pitchFamily="18" charset="0"/>
            </a:endParaRPr>
          </a:p>
          <a:p>
            <a:pPr lvl="1">
              <a:buSzPts val="1000"/>
              <a:tabLst>
                <a:tab pos="914400" algn="l"/>
              </a:tabLst>
            </a:pPr>
            <a:r>
              <a:rPr lang="vi-VN">
                <a:latin typeface="Times New Roman" panose="02020603050405020304" pitchFamily="18" charset="0"/>
                <a:ea typeface="Times New Roman" panose="02020603050405020304" pitchFamily="18" charset="0"/>
                <a:cs typeface="Times New Roman" panose="02020603050405020304" pitchFamily="18" charset="0"/>
              </a:rPr>
              <a:t>+ Router Internet</a:t>
            </a:r>
          </a:p>
          <a:p>
            <a:pPr lvl="1">
              <a:buSzPts val="1000"/>
              <a:tabLst>
                <a:tab pos="914400" algn="l"/>
              </a:tabLst>
            </a:pPr>
            <a:r>
              <a:rPr lang="vi-VN">
                <a:latin typeface="Times New Roman" panose="02020603050405020304" pitchFamily="18" charset="0"/>
                <a:ea typeface="Times New Roman" panose="02020603050405020304" pitchFamily="18" charset="0"/>
                <a:cs typeface="Times New Roman" panose="02020603050405020304" pitchFamily="18" charset="0"/>
              </a:rPr>
              <a:t>+ Kết nối ISP và mạng bên ngoài</a:t>
            </a:r>
            <a:endParaRPr lang="vi-VN">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4577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6" name="Rectangle 5">
            <a:extLst>
              <a:ext uri="{FF2B5EF4-FFF2-40B4-BE49-F238E27FC236}">
                <a16:creationId xmlns:a16="http://schemas.microsoft.com/office/drawing/2014/main" id="{5A4A2A87-78D8-4DF8-B26A-6358FD9F34EF}"/>
              </a:ext>
            </a:extLst>
          </p:cNvPr>
          <p:cNvSpPr/>
          <p:nvPr/>
        </p:nvSpPr>
        <p:spPr>
          <a:xfrm>
            <a:off x="133578" y="44540"/>
            <a:ext cx="6494085" cy="646331"/>
          </a:xfrm>
          <a:prstGeom prst="rect">
            <a:avLst/>
          </a:prstGeom>
        </p:spPr>
        <p:txBody>
          <a:bodyPr wrap="none">
            <a:spAutoFit/>
          </a:bodyPr>
          <a:lstStyle/>
          <a:p>
            <a:r>
              <a:rPr lang="vi-VN" sz="3600" b="1"/>
              <a:t>2. Phân Tích Hệ Thống Mạng</a:t>
            </a:r>
          </a:p>
        </p:txBody>
      </p:sp>
      <p:sp>
        <p:nvSpPr>
          <p:cNvPr id="7" name="Rectangle 6">
            <a:extLst>
              <a:ext uri="{FF2B5EF4-FFF2-40B4-BE49-F238E27FC236}">
                <a16:creationId xmlns:a16="http://schemas.microsoft.com/office/drawing/2014/main" id="{62F05342-98E3-42D8-A333-B5BD202ADAAD}"/>
              </a:ext>
            </a:extLst>
          </p:cNvPr>
          <p:cNvSpPr/>
          <p:nvPr/>
        </p:nvSpPr>
        <p:spPr>
          <a:xfrm>
            <a:off x="555171" y="863377"/>
            <a:ext cx="6955972" cy="523220"/>
          </a:xfrm>
          <a:prstGeom prst="rect">
            <a:avLst/>
          </a:prstGeom>
        </p:spPr>
        <p:txBody>
          <a:bodyPr wrap="square">
            <a:spAutoFit/>
          </a:bodyPr>
          <a:lstStyle/>
          <a:p>
            <a:r>
              <a:rPr lang="vi-VN" sz="2800" b="1">
                <a:latin typeface="+mj-lt"/>
              </a:rPr>
              <a:t>2.4. Sơ đồ mạng tổng quát:</a:t>
            </a:r>
          </a:p>
        </p:txBody>
      </p:sp>
      <p:pic>
        <p:nvPicPr>
          <p:cNvPr id="8" name="Picture 7">
            <a:extLst>
              <a:ext uri="{FF2B5EF4-FFF2-40B4-BE49-F238E27FC236}">
                <a16:creationId xmlns:a16="http://schemas.microsoft.com/office/drawing/2014/main" id="{90ADBCDC-7988-414B-91FC-C39BE542250B}"/>
              </a:ext>
            </a:extLst>
          </p:cNvPr>
          <p:cNvPicPr>
            <a:picLocks noChangeAspect="1"/>
          </p:cNvPicPr>
          <p:nvPr/>
        </p:nvPicPr>
        <p:blipFill>
          <a:blip r:embed="rId2"/>
          <a:stretch>
            <a:fillRect/>
          </a:stretch>
        </p:blipFill>
        <p:spPr>
          <a:xfrm>
            <a:off x="1717964" y="1386597"/>
            <a:ext cx="8368517" cy="5217149"/>
          </a:xfrm>
          <a:prstGeom prst="rect">
            <a:avLst/>
          </a:prstGeom>
        </p:spPr>
      </p:pic>
    </p:spTree>
    <p:extLst>
      <p:ext uri="{BB962C8B-B14F-4D97-AF65-F5344CB8AC3E}">
        <p14:creationId xmlns:p14="http://schemas.microsoft.com/office/powerpoint/2010/main" val="3047066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2" name="Rectangle 1">
            <a:extLst>
              <a:ext uri="{FF2B5EF4-FFF2-40B4-BE49-F238E27FC236}">
                <a16:creationId xmlns:a16="http://schemas.microsoft.com/office/drawing/2014/main" id="{E3CB23E1-EF6B-43AA-835E-269AC738177E}"/>
              </a:ext>
            </a:extLst>
          </p:cNvPr>
          <p:cNvSpPr/>
          <p:nvPr/>
        </p:nvSpPr>
        <p:spPr>
          <a:xfrm>
            <a:off x="662188" y="760977"/>
            <a:ext cx="4273927" cy="584775"/>
          </a:xfrm>
          <a:prstGeom prst="rect">
            <a:avLst/>
          </a:prstGeom>
        </p:spPr>
        <p:txBody>
          <a:bodyPr wrap="none">
            <a:spAutoFit/>
          </a:bodyPr>
          <a:lstStyle/>
          <a:p>
            <a:r>
              <a:rPr lang="vi-VN" sz="3200" b="1">
                <a:latin typeface="+mj-lt"/>
              </a:rPr>
              <a:t>2.5. Sơ đồ luồng kết nối</a:t>
            </a:r>
            <a:endParaRPr lang="vi-VN" sz="3200">
              <a:latin typeface="+mj-lt"/>
            </a:endParaRPr>
          </a:p>
        </p:txBody>
      </p:sp>
      <p:sp>
        <p:nvSpPr>
          <p:cNvPr id="6" name="Rectangle 5">
            <a:extLst>
              <a:ext uri="{FF2B5EF4-FFF2-40B4-BE49-F238E27FC236}">
                <a16:creationId xmlns:a16="http://schemas.microsoft.com/office/drawing/2014/main" id="{2DE23C6A-3B2F-4847-84E0-E5B3F08E9DA4}"/>
              </a:ext>
            </a:extLst>
          </p:cNvPr>
          <p:cNvSpPr/>
          <p:nvPr/>
        </p:nvSpPr>
        <p:spPr>
          <a:xfrm>
            <a:off x="133578" y="44540"/>
            <a:ext cx="6494085" cy="646331"/>
          </a:xfrm>
          <a:prstGeom prst="rect">
            <a:avLst/>
          </a:prstGeom>
        </p:spPr>
        <p:txBody>
          <a:bodyPr wrap="none">
            <a:spAutoFit/>
          </a:bodyPr>
          <a:lstStyle/>
          <a:p>
            <a:r>
              <a:rPr lang="vi-VN" sz="3600" b="1"/>
              <a:t>2. Phân Tích Hệ Thống Mạng</a:t>
            </a:r>
          </a:p>
        </p:txBody>
      </p:sp>
      <p:pic>
        <p:nvPicPr>
          <p:cNvPr id="10" name="Picture 9">
            <a:extLst>
              <a:ext uri="{FF2B5EF4-FFF2-40B4-BE49-F238E27FC236}">
                <a16:creationId xmlns:a16="http://schemas.microsoft.com/office/drawing/2014/main" id="{C35A97F3-A072-4993-924E-940C9FFD5AF9}"/>
              </a:ext>
            </a:extLst>
          </p:cNvPr>
          <p:cNvPicPr>
            <a:picLocks noChangeAspect="1"/>
          </p:cNvPicPr>
          <p:nvPr/>
        </p:nvPicPr>
        <p:blipFill>
          <a:blip r:embed="rId2"/>
          <a:stretch>
            <a:fillRect/>
          </a:stretch>
        </p:blipFill>
        <p:spPr>
          <a:xfrm>
            <a:off x="3620654" y="1345752"/>
            <a:ext cx="8294913" cy="5394138"/>
          </a:xfrm>
          <a:prstGeom prst="rect">
            <a:avLst/>
          </a:prstGeom>
        </p:spPr>
      </p:pic>
      <p:sp>
        <p:nvSpPr>
          <p:cNvPr id="11" name="Rectangle 1">
            <a:extLst>
              <a:ext uri="{FF2B5EF4-FFF2-40B4-BE49-F238E27FC236}">
                <a16:creationId xmlns:a16="http://schemas.microsoft.com/office/drawing/2014/main" id="{F86597AE-C8F3-4A31-9DBF-2D67A3127225}"/>
              </a:ext>
            </a:extLst>
          </p:cNvPr>
          <p:cNvSpPr>
            <a:spLocks noChangeArrowheads="1"/>
          </p:cNvSpPr>
          <p:nvPr/>
        </p:nvSpPr>
        <p:spPr bwMode="auto">
          <a:xfrm>
            <a:off x="68923" y="1541280"/>
            <a:ext cx="355173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vi-VN" altLang="vi-VN"/>
              <a:t>- Dữ liệu luôn đi qua các lớp kiểm soát (Switch → Router → Firewall)</a:t>
            </a:r>
          </a:p>
          <a:p>
            <a:pPr marR="0" lvl="0" algn="l" defTabSz="914400" rtl="0" eaLnBrk="0" fontAlgn="base" latinLnBrk="0" hangingPunct="0">
              <a:lnSpc>
                <a:spcPct val="100000"/>
              </a:lnSpc>
              <a:spcBef>
                <a:spcPct val="0"/>
              </a:spcBef>
              <a:spcAft>
                <a:spcPct val="0"/>
              </a:spcAft>
              <a:buClrTx/>
              <a:buSzTx/>
              <a:tabLst/>
            </a:pPr>
            <a:r>
              <a:rPr lang="vi-VN" altLang="vi-VN"/>
              <a:t>- Phân tách rõ:</a:t>
            </a:r>
          </a:p>
          <a:p>
            <a:pPr marR="0" lvl="0" algn="l" defTabSz="914400" rtl="0" eaLnBrk="0" fontAlgn="base" latinLnBrk="0" hangingPunct="0">
              <a:lnSpc>
                <a:spcPct val="100000"/>
              </a:lnSpc>
              <a:spcBef>
                <a:spcPct val="0"/>
              </a:spcBef>
              <a:spcAft>
                <a:spcPct val="0"/>
              </a:spcAft>
              <a:buClrTx/>
              <a:buSzTx/>
              <a:tabLst/>
            </a:pPr>
            <a:r>
              <a:rPr lang="vi-VN" altLang="vi-VN"/>
              <a:t>+ Luồng nội bộ</a:t>
            </a:r>
          </a:p>
          <a:p>
            <a:pPr marL="0" marR="0" lvl="0" indent="0" algn="l" defTabSz="914400" rtl="0" eaLnBrk="0" fontAlgn="base" latinLnBrk="0" hangingPunct="0">
              <a:lnSpc>
                <a:spcPct val="100000"/>
              </a:lnSpc>
              <a:spcBef>
                <a:spcPct val="0"/>
              </a:spcBef>
              <a:spcAft>
                <a:spcPct val="0"/>
              </a:spcAft>
              <a:buClrTx/>
              <a:buSzTx/>
              <a:tabLst/>
            </a:pPr>
            <a:r>
              <a:rPr lang="vi-VN" altLang="vi-VN"/>
              <a:t>+ Luồng Internet</a:t>
            </a:r>
          </a:p>
          <a:p>
            <a:pPr marL="0" marR="0" lvl="0" indent="0" algn="l" defTabSz="914400" rtl="0" eaLnBrk="0" fontAlgn="base" latinLnBrk="0" hangingPunct="0">
              <a:lnSpc>
                <a:spcPct val="100000"/>
              </a:lnSpc>
              <a:spcBef>
                <a:spcPct val="0"/>
              </a:spcBef>
              <a:spcAft>
                <a:spcPct val="0"/>
              </a:spcAft>
              <a:buClrTx/>
              <a:buSzTx/>
              <a:tabLst/>
            </a:pPr>
            <a:r>
              <a:rPr lang="vi-VN" altLang="vi-VN"/>
              <a:t>+ Luồng Wifi</a:t>
            </a:r>
          </a:p>
          <a:p>
            <a:pPr marL="0" marR="0" lvl="0" indent="0" algn="l" defTabSz="914400" rtl="0" eaLnBrk="0" fontAlgn="base" latinLnBrk="0" hangingPunct="0">
              <a:lnSpc>
                <a:spcPct val="100000"/>
              </a:lnSpc>
              <a:spcBef>
                <a:spcPct val="0"/>
              </a:spcBef>
              <a:spcAft>
                <a:spcPct val="0"/>
              </a:spcAft>
              <a:buClrTx/>
              <a:buSzTx/>
              <a:tabLst/>
            </a:pPr>
            <a:r>
              <a:rPr lang="vi-VN" altLang="vi-VN"/>
              <a:t>- Giúp:</a:t>
            </a:r>
          </a:p>
          <a:p>
            <a:pPr marL="0" marR="0" lvl="0" indent="0" algn="l" defTabSz="914400" rtl="0" eaLnBrk="0" fontAlgn="base" latinLnBrk="0" hangingPunct="0">
              <a:lnSpc>
                <a:spcPct val="100000"/>
              </a:lnSpc>
              <a:spcBef>
                <a:spcPct val="0"/>
              </a:spcBef>
              <a:spcAft>
                <a:spcPct val="0"/>
              </a:spcAft>
              <a:buClrTx/>
              <a:buSzTx/>
              <a:tabLst/>
            </a:pPr>
            <a:r>
              <a:rPr lang="vi-VN" altLang="vi-VN"/>
              <a:t>+ Dễ giám sát</a:t>
            </a:r>
          </a:p>
          <a:p>
            <a:pPr marL="0" marR="0" lvl="0" indent="0" algn="l" defTabSz="914400" rtl="0" eaLnBrk="0" fontAlgn="base" latinLnBrk="0" hangingPunct="0">
              <a:lnSpc>
                <a:spcPct val="100000"/>
              </a:lnSpc>
              <a:spcBef>
                <a:spcPct val="0"/>
              </a:spcBef>
              <a:spcAft>
                <a:spcPct val="0"/>
              </a:spcAft>
              <a:buClrTx/>
              <a:buSzTx/>
              <a:tabLst/>
            </a:pPr>
            <a:r>
              <a:rPr lang="vi-VN" altLang="vi-VN"/>
              <a:t>+ Áp dụng ACL, NAT, Firewall</a:t>
            </a:r>
          </a:p>
          <a:p>
            <a:pPr marL="0" marR="0" lvl="0" indent="0" algn="l" defTabSz="914400" rtl="0" eaLnBrk="0" fontAlgn="base" latinLnBrk="0" hangingPunct="0">
              <a:lnSpc>
                <a:spcPct val="100000"/>
              </a:lnSpc>
              <a:spcBef>
                <a:spcPct val="0"/>
              </a:spcBef>
              <a:spcAft>
                <a:spcPct val="0"/>
              </a:spcAft>
              <a:buClrTx/>
              <a:buSzTx/>
              <a:tabLst/>
            </a:pPr>
            <a:r>
              <a:rPr lang="vi-VN" altLang="vi-VN"/>
              <a:t>+ Tăng tính bảo mật và ổn định hệ thống</a:t>
            </a:r>
          </a:p>
          <a:p>
            <a:pPr marL="0" marR="0" lvl="0" indent="0" algn="l" defTabSz="914400" rtl="0" eaLnBrk="0" fontAlgn="base" latinLnBrk="0" hangingPunct="0">
              <a:lnSpc>
                <a:spcPct val="100000"/>
              </a:lnSpc>
              <a:spcBef>
                <a:spcPct val="0"/>
              </a:spcBef>
              <a:spcAft>
                <a:spcPct val="0"/>
              </a:spcAft>
              <a:buClrTx/>
              <a:buSzTx/>
              <a:buFontTx/>
              <a:buNone/>
              <a:tabLst/>
            </a:pPr>
            <a:endParaRPr lang="vi-VN" altLang="vi-VN"/>
          </a:p>
        </p:txBody>
      </p:sp>
    </p:spTree>
    <p:extLst>
      <p:ext uri="{BB962C8B-B14F-4D97-AF65-F5344CB8AC3E}">
        <p14:creationId xmlns:p14="http://schemas.microsoft.com/office/powerpoint/2010/main" val="167393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2" name="Rectangle 1">
            <a:extLst>
              <a:ext uri="{FF2B5EF4-FFF2-40B4-BE49-F238E27FC236}">
                <a16:creationId xmlns:a16="http://schemas.microsoft.com/office/drawing/2014/main" id="{E3CB23E1-EF6B-43AA-835E-269AC738177E}"/>
              </a:ext>
            </a:extLst>
          </p:cNvPr>
          <p:cNvSpPr/>
          <p:nvPr/>
        </p:nvSpPr>
        <p:spPr>
          <a:xfrm>
            <a:off x="662188" y="760977"/>
            <a:ext cx="4123245" cy="584775"/>
          </a:xfrm>
          <a:prstGeom prst="rect">
            <a:avLst/>
          </a:prstGeom>
        </p:spPr>
        <p:txBody>
          <a:bodyPr wrap="none">
            <a:spAutoFit/>
          </a:bodyPr>
          <a:lstStyle/>
          <a:p>
            <a:r>
              <a:rPr lang="vi-VN" sz="3200" b="1">
                <a:latin typeface="+mj-lt"/>
              </a:rPr>
              <a:t>2.5.1 Luồng gửi gói tin</a:t>
            </a:r>
            <a:endParaRPr lang="vi-VN" sz="3200">
              <a:latin typeface="+mj-lt"/>
            </a:endParaRPr>
          </a:p>
        </p:txBody>
      </p:sp>
      <p:sp>
        <p:nvSpPr>
          <p:cNvPr id="6" name="Rectangle 5">
            <a:extLst>
              <a:ext uri="{FF2B5EF4-FFF2-40B4-BE49-F238E27FC236}">
                <a16:creationId xmlns:a16="http://schemas.microsoft.com/office/drawing/2014/main" id="{2DE23C6A-3B2F-4847-84E0-E5B3F08E9DA4}"/>
              </a:ext>
            </a:extLst>
          </p:cNvPr>
          <p:cNvSpPr/>
          <p:nvPr/>
        </p:nvSpPr>
        <p:spPr>
          <a:xfrm>
            <a:off x="133578" y="44540"/>
            <a:ext cx="6494085" cy="646331"/>
          </a:xfrm>
          <a:prstGeom prst="rect">
            <a:avLst/>
          </a:prstGeom>
        </p:spPr>
        <p:txBody>
          <a:bodyPr wrap="none">
            <a:spAutoFit/>
          </a:bodyPr>
          <a:lstStyle/>
          <a:p>
            <a:r>
              <a:rPr lang="vi-VN" sz="3600" b="1"/>
              <a:t>2. Phân Tích Hệ Thống Mạng</a:t>
            </a:r>
          </a:p>
        </p:txBody>
      </p:sp>
      <p:pic>
        <p:nvPicPr>
          <p:cNvPr id="8" name="Picture 7">
            <a:extLst>
              <a:ext uri="{FF2B5EF4-FFF2-40B4-BE49-F238E27FC236}">
                <a16:creationId xmlns:a16="http://schemas.microsoft.com/office/drawing/2014/main" id="{C896B8BF-A4C0-4288-A6F6-141D98A01D63}"/>
              </a:ext>
            </a:extLst>
          </p:cNvPr>
          <p:cNvPicPr>
            <a:picLocks noChangeAspect="1"/>
          </p:cNvPicPr>
          <p:nvPr/>
        </p:nvPicPr>
        <p:blipFill>
          <a:blip r:embed="rId2"/>
          <a:stretch>
            <a:fillRect/>
          </a:stretch>
        </p:blipFill>
        <p:spPr>
          <a:xfrm>
            <a:off x="3380620" y="2916252"/>
            <a:ext cx="8754488" cy="3556260"/>
          </a:xfrm>
          <a:prstGeom prst="rect">
            <a:avLst/>
          </a:prstGeom>
        </p:spPr>
      </p:pic>
      <p:sp>
        <p:nvSpPr>
          <p:cNvPr id="3" name="Rectangle 2">
            <a:extLst>
              <a:ext uri="{FF2B5EF4-FFF2-40B4-BE49-F238E27FC236}">
                <a16:creationId xmlns:a16="http://schemas.microsoft.com/office/drawing/2014/main" id="{CA32E5C8-17F2-416C-9FEC-69AECBFC4B91}"/>
              </a:ext>
            </a:extLst>
          </p:cNvPr>
          <p:cNvSpPr/>
          <p:nvPr/>
        </p:nvSpPr>
        <p:spPr>
          <a:xfrm>
            <a:off x="886689" y="1466633"/>
            <a:ext cx="10557166" cy="923330"/>
          </a:xfrm>
          <a:prstGeom prst="rect">
            <a:avLst/>
          </a:prstGeom>
        </p:spPr>
        <p:txBody>
          <a:bodyPr wrap="square">
            <a:spAutoFit/>
          </a:bodyPr>
          <a:lstStyle/>
          <a:p>
            <a:r>
              <a:rPr lang="vi-VN"/>
              <a:t>“Luồng dữ liệu trong hệ thống được thiết kế theo mô hình phân tầng.</a:t>
            </a:r>
            <a:br>
              <a:rPr lang="vi-VN"/>
            </a:br>
            <a:r>
              <a:rPr lang="vi-VN"/>
              <a:t>Truy cập nội bộ được xử lý trực tiếp trong mạng LAN, còn truy cập Internet bắt buộc đi qua Router và Firewall để kiểm soát an ninh.”</a:t>
            </a:r>
          </a:p>
        </p:txBody>
      </p:sp>
      <p:pic>
        <p:nvPicPr>
          <p:cNvPr id="1026" name="Picture 2" descr="Layered-security architecture and equipment of each layer ...">
            <a:extLst>
              <a:ext uri="{FF2B5EF4-FFF2-40B4-BE49-F238E27FC236}">
                <a16:creationId xmlns:a16="http://schemas.microsoft.com/office/drawing/2014/main" id="{2D1005AF-5DD3-4F0B-8897-0F036A0392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883" y="2732019"/>
            <a:ext cx="5093854" cy="3715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4638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2" name="Rectangle 1">
            <a:extLst>
              <a:ext uri="{FF2B5EF4-FFF2-40B4-BE49-F238E27FC236}">
                <a16:creationId xmlns:a16="http://schemas.microsoft.com/office/drawing/2014/main" id="{E3CB23E1-EF6B-43AA-835E-269AC738177E}"/>
              </a:ext>
            </a:extLst>
          </p:cNvPr>
          <p:cNvSpPr/>
          <p:nvPr/>
        </p:nvSpPr>
        <p:spPr>
          <a:xfrm>
            <a:off x="351293" y="671471"/>
            <a:ext cx="6924844" cy="584775"/>
          </a:xfrm>
          <a:prstGeom prst="rect">
            <a:avLst/>
          </a:prstGeom>
        </p:spPr>
        <p:txBody>
          <a:bodyPr wrap="none">
            <a:spAutoFit/>
          </a:bodyPr>
          <a:lstStyle/>
          <a:p>
            <a:r>
              <a:rPr lang="vi-VN" sz="3200" b="1">
                <a:latin typeface="+mj-lt"/>
              </a:rPr>
              <a:t>2.6. Tính an ninh mạng trong hệ thống</a:t>
            </a:r>
            <a:endParaRPr lang="vi-VN" sz="3200">
              <a:latin typeface="+mj-lt"/>
            </a:endParaRPr>
          </a:p>
        </p:txBody>
      </p:sp>
      <p:sp>
        <p:nvSpPr>
          <p:cNvPr id="6" name="Rectangle 5">
            <a:extLst>
              <a:ext uri="{FF2B5EF4-FFF2-40B4-BE49-F238E27FC236}">
                <a16:creationId xmlns:a16="http://schemas.microsoft.com/office/drawing/2014/main" id="{2DE23C6A-3B2F-4847-84E0-E5B3F08E9DA4}"/>
              </a:ext>
            </a:extLst>
          </p:cNvPr>
          <p:cNvSpPr/>
          <p:nvPr/>
        </p:nvSpPr>
        <p:spPr>
          <a:xfrm>
            <a:off x="133578" y="44540"/>
            <a:ext cx="6494085" cy="646331"/>
          </a:xfrm>
          <a:prstGeom prst="rect">
            <a:avLst/>
          </a:prstGeom>
        </p:spPr>
        <p:txBody>
          <a:bodyPr wrap="none">
            <a:spAutoFit/>
          </a:bodyPr>
          <a:lstStyle/>
          <a:p>
            <a:r>
              <a:rPr lang="vi-VN" sz="3600" b="1"/>
              <a:t>2. Phân Tích Hệ Thống Mạng</a:t>
            </a:r>
          </a:p>
        </p:txBody>
      </p:sp>
      <p:sp>
        <p:nvSpPr>
          <p:cNvPr id="7" name="Rectangle 6">
            <a:extLst>
              <a:ext uri="{FF2B5EF4-FFF2-40B4-BE49-F238E27FC236}">
                <a16:creationId xmlns:a16="http://schemas.microsoft.com/office/drawing/2014/main" id="{6C658C9A-9C16-46B2-BADC-5D28CAB56C15}"/>
              </a:ext>
            </a:extLst>
          </p:cNvPr>
          <p:cNvSpPr/>
          <p:nvPr/>
        </p:nvSpPr>
        <p:spPr>
          <a:xfrm>
            <a:off x="602347" y="1135568"/>
            <a:ext cx="10049164" cy="1754326"/>
          </a:xfrm>
          <a:prstGeom prst="rect">
            <a:avLst/>
          </a:prstGeom>
        </p:spPr>
        <p:txBody>
          <a:bodyPr wrap="square">
            <a:spAutoFit/>
          </a:bodyPr>
          <a:lstStyle/>
          <a:p>
            <a:pPr algn="just"/>
            <a:r>
              <a:rPr lang="vi-VN" b="1">
                <a:latin typeface="+mj-lt"/>
              </a:rPr>
              <a:t>a. </a:t>
            </a:r>
            <a:r>
              <a:rPr lang="vi-VN" i="1">
                <a:latin typeface="+mj-lt"/>
              </a:rPr>
              <a:t>Nguyên tắc thiết kế an ninh</a:t>
            </a:r>
          </a:p>
          <a:p>
            <a:pPr algn="just"/>
            <a:r>
              <a:rPr lang="vi-VN">
                <a:latin typeface="+mj-lt"/>
              </a:rPr>
              <a:t>Hệ thống mạng được thiết kế dựa trên các nguyên tắc:</a:t>
            </a:r>
          </a:p>
          <a:p>
            <a:pPr marL="285750" indent="-285750" algn="just">
              <a:buFontTx/>
              <a:buChar char="-"/>
            </a:pPr>
            <a:r>
              <a:rPr lang="vi-VN">
                <a:latin typeface="+mj-lt"/>
              </a:rPr>
              <a:t>Phân vùng mạng (Network Segmentation)</a:t>
            </a:r>
          </a:p>
          <a:p>
            <a:pPr marL="285750" indent="-285750" algn="just">
              <a:buFontTx/>
              <a:buChar char="-"/>
            </a:pPr>
            <a:r>
              <a:rPr lang="vi-VN">
                <a:latin typeface="+mj-lt"/>
              </a:rPr>
              <a:t>Kiểm soát truy cập theo luồng</a:t>
            </a:r>
          </a:p>
          <a:p>
            <a:pPr marL="285750" indent="-285750" algn="just">
              <a:buFontTx/>
              <a:buChar char="-"/>
            </a:pPr>
            <a:r>
              <a:rPr lang="vi-VN">
                <a:latin typeface="+mj-lt"/>
              </a:rPr>
              <a:t>Bảo vệ nhiều lớp (Defense in Depth)</a:t>
            </a:r>
          </a:p>
          <a:p>
            <a:pPr marL="285750" indent="-285750" algn="just">
              <a:buFontTx/>
              <a:buChar char="-"/>
            </a:pPr>
            <a:r>
              <a:rPr lang="vi-VN">
                <a:latin typeface="+mj-lt"/>
              </a:rPr>
              <a:t>Hạn chế lan truyền sự cố và tấn công nội bộ</a:t>
            </a:r>
          </a:p>
        </p:txBody>
      </p:sp>
      <p:graphicFrame>
        <p:nvGraphicFramePr>
          <p:cNvPr id="8" name="Table 7">
            <a:extLst>
              <a:ext uri="{FF2B5EF4-FFF2-40B4-BE49-F238E27FC236}">
                <a16:creationId xmlns:a16="http://schemas.microsoft.com/office/drawing/2014/main" id="{D815359C-9ADE-4588-AC03-429BC29C05EB}"/>
              </a:ext>
            </a:extLst>
          </p:cNvPr>
          <p:cNvGraphicFramePr>
            <a:graphicFrameLocks noGrp="1"/>
          </p:cNvGraphicFramePr>
          <p:nvPr>
            <p:extLst>
              <p:ext uri="{D42A27DB-BD31-4B8C-83A1-F6EECF244321}">
                <p14:modId xmlns:p14="http://schemas.microsoft.com/office/powerpoint/2010/main" val="1944349095"/>
              </p:ext>
            </p:extLst>
          </p:nvPr>
        </p:nvGraphicFramePr>
        <p:xfrm>
          <a:off x="938508" y="3466127"/>
          <a:ext cx="10314984" cy="2560320"/>
        </p:xfrm>
        <a:graphic>
          <a:graphicData uri="http://schemas.openxmlformats.org/drawingml/2006/table">
            <a:tbl>
              <a:tblPr/>
              <a:tblGrid>
                <a:gridCol w="3438328">
                  <a:extLst>
                    <a:ext uri="{9D8B030D-6E8A-4147-A177-3AD203B41FA5}">
                      <a16:colId xmlns:a16="http://schemas.microsoft.com/office/drawing/2014/main" val="1242063531"/>
                    </a:ext>
                  </a:extLst>
                </a:gridCol>
                <a:gridCol w="3438328">
                  <a:extLst>
                    <a:ext uri="{9D8B030D-6E8A-4147-A177-3AD203B41FA5}">
                      <a16:colId xmlns:a16="http://schemas.microsoft.com/office/drawing/2014/main" val="4175498286"/>
                    </a:ext>
                  </a:extLst>
                </a:gridCol>
                <a:gridCol w="3438328">
                  <a:extLst>
                    <a:ext uri="{9D8B030D-6E8A-4147-A177-3AD203B41FA5}">
                      <a16:colId xmlns:a16="http://schemas.microsoft.com/office/drawing/2014/main" val="2314659251"/>
                    </a:ext>
                  </a:extLst>
                </a:gridCol>
              </a:tblGrid>
              <a:tr h="356408">
                <a:tc>
                  <a:txBody>
                    <a:bodyPr/>
                    <a:lstStyle/>
                    <a:p>
                      <a:r>
                        <a:rPr lang="vi-VN"/>
                        <a:t>Khu vực</a:t>
                      </a:r>
                    </a:p>
                  </a:txBody>
                  <a:tcPr anchor="ctr">
                    <a:lnL>
                      <a:noFill/>
                    </a:lnL>
                    <a:lnR>
                      <a:noFill/>
                    </a:lnR>
                    <a:lnT>
                      <a:noFill/>
                    </a:lnT>
                    <a:lnB>
                      <a:noFill/>
                    </a:lnB>
                  </a:tcPr>
                </a:tc>
                <a:tc>
                  <a:txBody>
                    <a:bodyPr/>
                    <a:lstStyle/>
                    <a:p>
                      <a:r>
                        <a:rPr lang="vi-VN"/>
                        <a:t>Subnet</a:t>
                      </a:r>
                    </a:p>
                  </a:txBody>
                  <a:tcPr anchor="ctr">
                    <a:lnL>
                      <a:noFill/>
                    </a:lnL>
                    <a:lnR>
                      <a:noFill/>
                    </a:lnR>
                    <a:lnT>
                      <a:noFill/>
                    </a:lnT>
                    <a:lnB>
                      <a:noFill/>
                    </a:lnB>
                  </a:tcPr>
                </a:tc>
                <a:tc>
                  <a:txBody>
                    <a:bodyPr/>
                    <a:lstStyle/>
                    <a:p>
                      <a:r>
                        <a:rPr lang="vi-VN"/>
                        <a:t>Mục đích an ninh</a:t>
                      </a:r>
                    </a:p>
                  </a:txBody>
                  <a:tcPr anchor="ctr">
                    <a:lnL>
                      <a:noFill/>
                    </a:lnL>
                    <a:lnR>
                      <a:noFill/>
                    </a:lnR>
                    <a:lnT>
                      <a:noFill/>
                    </a:lnT>
                    <a:lnB>
                      <a:noFill/>
                    </a:lnB>
                  </a:tcPr>
                </a:tc>
                <a:extLst>
                  <a:ext uri="{0D108BD9-81ED-4DB2-BD59-A6C34878D82A}">
                    <a16:rowId xmlns:a16="http://schemas.microsoft.com/office/drawing/2014/main" val="1429215743"/>
                  </a:ext>
                </a:extLst>
              </a:tr>
              <a:tr h="356408">
                <a:tc>
                  <a:txBody>
                    <a:bodyPr/>
                    <a:lstStyle/>
                    <a:p>
                      <a:r>
                        <a:rPr lang="vi-VN"/>
                        <a:t>Phòng Lab</a:t>
                      </a:r>
                    </a:p>
                  </a:txBody>
                  <a:tcPr anchor="ctr">
                    <a:lnL>
                      <a:noFill/>
                    </a:lnL>
                    <a:lnR>
                      <a:noFill/>
                    </a:lnR>
                    <a:lnT>
                      <a:noFill/>
                    </a:lnT>
                    <a:lnB>
                      <a:noFill/>
                    </a:lnB>
                  </a:tcPr>
                </a:tc>
                <a:tc>
                  <a:txBody>
                    <a:bodyPr/>
                    <a:lstStyle/>
                    <a:p>
                      <a:r>
                        <a:rPr lang="vi-VN"/>
                        <a:t>172.16.11.0/24, 172.16.12.0/24</a:t>
                      </a:r>
                    </a:p>
                  </a:txBody>
                  <a:tcPr anchor="ctr">
                    <a:lnL>
                      <a:noFill/>
                    </a:lnL>
                    <a:lnR>
                      <a:noFill/>
                    </a:lnR>
                    <a:lnT>
                      <a:noFill/>
                    </a:lnT>
                    <a:lnB>
                      <a:noFill/>
                    </a:lnB>
                  </a:tcPr>
                </a:tc>
                <a:tc>
                  <a:txBody>
                    <a:bodyPr/>
                    <a:lstStyle/>
                    <a:p>
                      <a:r>
                        <a:rPr lang="vi-VN"/>
                        <a:t>Cô lập máy sinh viên</a:t>
                      </a:r>
                    </a:p>
                  </a:txBody>
                  <a:tcPr anchor="ctr">
                    <a:lnL>
                      <a:noFill/>
                    </a:lnL>
                    <a:lnR>
                      <a:noFill/>
                    </a:lnR>
                    <a:lnT>
                      <a:noFill/>
                    </a:lnT>
                    <a:lnB>
                      <a:noFill/>
                    </a:lnB>
                  </a:tcPr>
                </a:tc>
                <a:extLst>
                  <a:ext uri="{0D108BD9-81ED-4DB2-BD59-A6C34878D82A}">
                    <a16:rowId xmlns:a16="http://schemas.microsoft.com/office/drawing/2014/main" val="2438904538"/>
                  </a:ext>
                </a:extLst>
              </a:tr>
              <a:tr h="356408">
                <a:tc>
                  <a:txBody>
                    <a:bodyPr/>
                    <a:lstStyle/>
                    <a:p>
                      <a:r>
                        <a:rPr lang="vi-VN"/>
                        <a:t>Phòng GV</a:t>
                      </a:r>
                    </a:p>
                  </a:txBody>
                  <a:tcPr anchor="ctr">
                    <a:lnL>
                      <a:noFill/>
                    </a:lnL>
                    <a:lnR>
                      <a:noFill/>
                    </a:lnR>
                    <a:lnT>
                      <a:noFill/>
                    </a:lnT>
                    <a:lnB>
                      <a:noFill/>
                    </a:lnB>
                  </a:tcPr>
                </a:tc>
                <a:tc>
                  <a:txBody>
                    <a:bodyPr/>
                    <a:lstStyle/>
                    <a:p>
                      <a:r>
                        <a:rPr lang="vi-VN"/>
                        <a:t>172.16.13.0/24</a:t>
                      </a:r>
                    </a:p>
                  </a:txBody>
                  <a:tcPr anchor="ctr">
                    <a:lnL>
                      <a:noFill/>
                    </a:lnL>
                    <a:lnR>
                      <a:noFill/>
                    </a:lnR>
                    <a:lnT>
                      <a:noFill/>
                    </a:lnT>
                    <a:lnB>
                      <a:noFill/>
                    </a:lnB>
                  </a:tcPr>
                </a:tc>
                <a:tc>
                  <a:txBody>
                    <a:bodyPr/>
                    <a:lstStyle/>
                    <a:p>
                      <a:r>
                        <a:rPr lang="vi-VN"/>
                        <a:t>Bảo vệ dữ liệu giảng viên</a:t>
                      </a:r>
                    </a:p>
                  </a:txBody>
                  <a:tcPr anchor="ctr">
                    <a:lnL>
                      <a:noFill/>
                    </a:lnL>
                    <a:lnR>
                      <a:noFill/>
                    </a:lnR>
                    <a:lnT>
                      <a:noFill/>
                    </a:lnT>
                    <a:lnB>
                      <a:noFill/>
                    </a:lnB>
                  </a:tcPr>
                </a:tc>
                <a:extLst>
                  <a:ext uri="{0D108BD9-81ED-4DB2-BD59-A6C34878D82A}">
                    <a16:rowId xmlns:a16="http://schemas.microsoft.com/office/drawing/2014/main" val="1186531194"/>
                  </a:ext>
                </a:extLst>
              </a:tr>
              <a:tr h="356408">
                <a:tc>
                  <a:txBody>
                    <a:bodyPr/>
                    <a:lstStyle/>
                    <a:p>
                      <a:r>
                        <a:rPr lang="vi-VN"/>
                        <a:t>Phòng Server</a:t>
                      </a:r>
                    </a:p>
                  </a:txBody>
                  <a:tcPr anchor="ctr">
                    <a:lnL>
                      <a:noFill/>
                    </a:lnL>
                    <a:lnR>
                      <a:noFill/>
                    </a:lnR>
                    <a:lnT>
                      <a:noFill/>
                    </a:lnT>
                    <a:lnB>
                      <a:noFill/>
                    </a:lnB>
                  </a:tcPr>
                </a:tc>
                <a:tc>
                  <a:txBody>
                    <a:bodyPr/>
                    <a:lstStyle/>
                    <a:p>
                      <a:r>
                        <a:rPr lang="vi-VN"/>
                        <a:t>172.16.10.0/24</a:t>
                      </a:r>
                    </a:p>
                  </a:txBody>
                  <a:tcPr anchor="ctr">
                    <a:lnL>
                      <a:noFill/>
                    </a:lnL>
                    <a:lnR>
                      <a:noFill/>
                    </a:lnR>
                    <a:lnT>
                      <a:noFill/>
                    </a:lnT>
                    <a:lnB>
                      <a:noFill/>
                    </a:lnB>
                  </a:tcPr>
                </a:tc>
                <a:tc>
                  <a:txBody>
                    <a:bodyPr/>
                    <a:lstStyle/>
                    <a:p>
                      <a:r>
                        <a:rPr lang="vi-VN"/>
                        <a:t>Bảo mật máy chủ</a:t>
                      </a:r>
                    </a:p>
                  </a:txBody>
                  <a:tcPr anchor="ctr">
                    <a:lnL>
                      <a:noFill/>
                    </a:lnL>
                    <a:lnR>
                      <a:noFill/>
                    </a:lnR>
                    <a:lnT>
                      <a:noFill/>
                    </a:lnT>
                    <a:lnB>
                      <a:noFill/>
                    </a:lnB>
                  </a:tcPr>
                </a:tc>
                <a:extLst>
                  <a:ext uri="{0D108BD9-81ED-4DB2-BD59-A6C34878D82A}">
                    <a16:rowId xmlns:a16="http://schemas.microsoft.com/office/drawing/2014/main" val="1973939328"/>
                  </a:ext>
                </a:extLst>
              </a:tr>
              <a:tr h="356408">
                <a:tc>
                  <a:txBody>
                    <a:bodyPr/>
                    <a:lstStyle/>
                    <a:p>
                      <a:r>
                        <a:rPr lang="vi-VN"/>
                        <a:t>Wifi học sinh</a:t>
                      </a:r>
                    </a:p>
                  </a:txBody>
                  <a:tcPr anchor="ctr">
                    <a:lnL>
                      <a:noFill/>
                    </a:lnL>
                    <a:lnR>
                      <a:noFill/>
                    </a:lnR>
                    <a:lnT>
                      <a:noFill/>
                    </a:lnT>
                    <a:lnB>
                      <a:noFill/>
                    </a:lnB>
                  </a:tcPr>
                </a:tc>
                <a:tc>
                  <a:txBody>
                    <a:bodyPr/>
                    <a:lstStyle/>
                    <a:p>
                      <a:r>
                        <a:rPr lang="vi-VN"/>
                        <a:t>172.16.14.0/24</a:t>
                      </a:r>
                    </a:p>
                  </a:txBody>
                  <a:tcPr anchor="ctr">
                    <a:lnL>
                      <a:noFill/>
                    </a:lnL>
                    <a:lnR>
                      <a:noFill/>
                    </a:lnR>
                    <a:lnT>
                      <a:noFill/>
                    </a:lnT>
                    <a:lnB>
                      <a:noFill/>
                    </a:lnB>
                  </a:tcPr>
                </a:tc>
                <a:tc>
                  <a:txBody>
                    <a:bodyPr/>
                    <a:lstStyle/>
                    <a:p>
                      <a:r>
                        <a:rPr lang="vi-VN"/>
                        <a:t>Tách khỏi mạng nội bộ</a:t>
                      </a:r>
                    </a:p>
                  </a:txBody>
                  <a:tcPr anchor="ctr">
                    <a:lnL>
                      <a:noFill/>
                    </a:lnL>
                    <a:lnR>
                      <a:noFill/>
                    </a:lnR>
                    <a:lnT>
                      <a:noFill/>
                    </a:lnT>
                    <a:lnB>
                      <a:noFill/>
                    </a:lnB>
                  </a:tcPr>
                </a:tc>
                <a:extLst>
                  <a:ext uri="{0D108BD9-81ED-4DB2-BD59-A6C34878D82A}">
                    <a16:rowId xmlns:a16="http://schemas.microsoft.com/office/drawing/2014/main" val="1770874881"/>
                  </a:ext>
                </a:extLst>
              </a:tr>
              <a:tr h="356408">
                <a:tc>
                  <a:txBody>
                    <a:bodyPr/>
                    <a:lstStyle/>
                    <a:p>
                      <a:r>
                        <a:rPr lang="vi-VN"/>
                        <a:t>Router–Firewall</a:t>
                      </a:r>
                    </a:p>
                  </a:txBody>
                  <a:tcPr anchor="ctr">
                    <a:lnL>
                      <a:noFill/>
                    </a:lnL>
                    <a:lnR>
                      <a:noFill/>
                    </a:lnR>
                    <a:lnT>
                      <a:noFill/>
                    </a:lnT>
                    <a:lnB>
                      <a:noFill/>
                    </a:lnB>
                  </a:tcPr>
                </a:tc>
                <a:tc>
                  <a:txBody>
                    <a:bodyPr/>
                    <a:lstStyle/>
                    <a:p>
                      <a:r>
                        <a:rPr lang="vi-VN"/>
                        <a:t>192.168.10.0/24</a:t>
                      </a:r>
                    </a:p>
                  </a:txBody>
                  <a:tcPr anchor="ctr">
                    <a:lnL>
                      <a:noFill/>
                    </a:lnL>
                    <a:lnR>
                      <a:noFill/>
                    </a:lnR>
                    <a:lnT>
                      <a:noFill/>
                    </a:lnT>
                    <a:lnB>
                      <a:noFill/>
                    </a:lnB>
                  </a:tcPr>
                </a:tc>
                <a:tc>
                  <a:txBody>
                    <a:bodyPr/>
                    <a:lstStyle/>
                    <a:p>
                      <a:r>
                        <a:rPr lang="vi-VN"/>
                        <a:t>Vùng trung gian</a:t>
                      </a:r>
                    </a:p>
                  </a:txBody>
                  <a:tcPr anchor="ctr">
                    <a:lnL>
                      <a:noFill/>
                    </a:lnL>
                    <a:lnR>
                      <a:noFill/>
                    </a:lnR>
                    <a:lnT>
                      <a:noFill/>
                    </a:lnT>
                    <a:lnB>
                      <a:noFill/>
                    </a:lnB>
                  </a:tcPr>
                </a:tc>
                <a:extLst>
                  <a:ext uri="{0D108BD9-81ED-4DB2-BD59-A6C34878D82A}">
                    <a16:rowId xmlns:a16="http://schemas.microsoft.com/office/drawing/2014/main" val="3043102192"/>
                  </a:ext>
                </a:extLst>
              </a:tr>
              <a:tr h="356408">
                <a:tc>
                  <a:txBody>
                    <a:bodyPr/>
                    <a:lstStyle/>
                    <a:p>
                      <a:r>
                        <a:rPr lang="vi-VN"/>
                        <a:t>Internet</a:t>
                      </a:r>
                    </a:p>
                  </a:txBody>
                  <a:tcPr anchor="ctr">
                    <a:lnL>
                      <a:noFill/>
                    </a:lnL>
                    <a:lnR>
                      <a:noFill/>
                    </a:lnR>
                    <a:lnT>
                      <a:noFill/>
                    </a:lnT>
                    <a:lnB>
                      <a:noFill/>
                    </a:lnB>
                  </a:tcPr>
                </a:tc>
                <a:tc>
                  <a:txBody>
                    <a:bodyPr/>
                    <a:lstStyle/>
                    <a:p>
                      <a:r>
                        <a:rPr lang="vi-VN"/>
                        <a:t>192.168.14.0/24</a:t>
                      </a:r>
                    </a:p>
                  </a:txBody>
                  <a:tcPr anchor="ctr">
                    <a:lnL>
                      <a:noFill/>
                    </a:lnL>
                    <a:lnR>
                      <a:noFill/>
                    </a:lnR>
                    <a:lnT>
                      <a:noFill/>
                    </a:lnT>
                    <a:lnB>
                      <a:noFill/>
                    </a:lnB>
                  </a:tcPr>
                </a:tc>
                <a:tc>
                  <a:txBody>
                    <a:bodyPr/>
                    <a:lstStyle/>
                    <a:p>
                      <a:r>
                        <a:rPr lang="vi-VN"/>
                        <a:t>Mạng công cộng</a:t>
                      </a:r>
                    </a:p>
                  </a:txBody>
                  <a:tcPr anchor="ctr">
                    <a:lnL>
                      <a:noFill/>
                    </a:lnL>
                    <a:lnR>
                      <a:noFill/>
                    </a:lnR>
                    <a:lnT>
                      <a:noFill/>
                    </a:lnT>
                    <a:lnB>
                      <a:noFill/>
                    </a:lnB>
                  </a:tcPr>
                </a:tc>
                <a:extLst>
                  <a:ext uri="{0D108BD9-81ED-4DB2-BD59-A6C34878D82A}">
                    <a16:rowId xmlns:a16="http://schemas.microsoft.com/office/drawing/2014/main" val="2668820166"/>
                  </a:ext>
                </a:extLst>
              </a:tr>
            </a:tbl>
          </a:graphicData>
        </a:graphic>
      </p:graphicFrame>
      <p:sp>
        <p:nvSpPr>
          <p:cNvPr id="9" name="Rectangle 1">
            <a:extLst>
              <a:ext uri="{FF2B5EF4-FFF2-40B4-BE49-F238E27FC236}">
                <a16:creationId xmlns:a16="http://schemas.microsoft.com/office/drawing/2014/main" id="{13845F59-B2A9-4833-B7A4-244EE782A558}"/>
              </a:ext>
            </a:extLst>
          </p:cNvPr>
          <p:cNvSpPr>
            <a:spLocks noChangeArrowheads="1"/>
          </p:cNvSpPr>
          <p:nvPr/>
        </p:nvSpPr>
        <p:spPr bwMode="auto">
          <a:xfrm>
            <a:off x="602347" y="2816551"/>
            <a:ext cx="1226759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vi-VN" altLang="vi-VN" b="1" i="1">
                <a:latin typeface="+mj-lt"/>
              </a:rPr>
              <a:t>b</a:t>
            </a:r>
            <a:r>
              <a:rPr kumimoji="0" lang="vi-VN" altLang="vi-VN" b="1" i="1" u="none" strike="noStrike" cap="none" normalizeH="0" baseline="0">
                <a:ln>
                  <a:noFill/>
                </a:ln>
                <a:solidFill>
                  <a:schemeClr val="tx1"/>
                </a:solidFill>
                <a:effectLst/>
                <a:latin typeface="+mj-lt"/>
              </a:rPr>
              <a:t>. </a:t>
            </a:r>
            <a:r>
              <a:rPr kumimoji="0" lang="vi-VN" altLang="vi-VN" i="1" u="none" strike="noStrike" cap="none" normalizeH="0" baseline="0">
                <a:ln>
                  <a:noFill/>
                </a:ln>
                <a:solidFill>
                  <a:schemeClr val="tx1"/>
                </a:solidFill>
                <a:effectLst/>
                <a:latin typeface="+mj-lt"/>
              </a:rPr>
              <a:t>Phân vùng mạng – giảm rủi ro tấn công</a:t>
            </a: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b="0" i="0" u="none" strike="noStrike" cap="none" normalizeH="0" baseline="0">
                <a:ln>
                  <a:noFill/>
                </a:ln>
                <a:solidFill>
                  <a:schemeClr val="tx1"/>
                </a:solidFill>
                <a:effectLst/>
                <a:latin typeface="+mj-lt"/>
              </a:rPr>
              <a:t>Hệ thống được chia thành nhiều subnet độc lập theo chức năng:</a:t>
            </a:r>
          </a:p>
        </p:txBody>
      </p:sp>
      <p:sp>
        <p:nvSpPr>
          <p:cNvPr id="10" name="Rectangle 9">
            <a:extLst>
              <a:ext uri="{FF2B5EF4-FFF2-40B4-BE49-F238E27FC236}">
                <a16:creationId xmlns:a16="http://schemas.microsoft.com/office/drawing/2014/main" id="{104503D3-29E1-4580-A71E-CF1BE6AA3F37}"/>
              </a:ext>
            </a:extLst>
          </p:cNvPr>
          <p:cNvSpPr/>
          <p:nvPr/>
        </p:nvSpPr>
        <p:spPr>
          <a:xfrm>
            <a:off x="1008763" y="6186529"/>
            <a:ext cx="9964037" cy="369332"/>
          </a:xfrm>
          <a:prstGeom prst="rect">
            <a:avLst/>
          </a:prstGeom>
        </p:spPr>
        <p:txBody>
          <a:bodyPr wrap="square">
            <a:spAutoFit/>
          </a:bodyPr>
          <a:lstStyle/>
          <a:p>
            <a:pPr lvl="0" eaLnBrk="0" fontAlgn="base" hangingPunct="0">
              <a:spcBef>
                <a:spcPct val="0"/>
              </a:spcBef>
              <a:spcAft>
                <a:spcPct val="0"/>
              </a:spcAft>
            </a:pPr>
            <a:r>
              <a:rPr lang="vi-VN" altLang="vi-VN"/>
              <a:t>👉 Việc phân subnet giúp </a:t>
            </a:r>
            <a:r>
              <a:rPr lang="vi-VN" altLang="vi-VN" b="1"/>
              <a:t>ngăn chặn tấn công lan truyền</a:t>
            </a:r>
            <a:r>
              <a:rPr lang="vi-VN" altLang="vi-VN"/>
              <a:t> giữa các phòng ban.</a:t>
            </a:r>
          </a:p>
        </p:txBody>
      </p:sp>
    </p:spTree>
    <p:extLst>
      <p:ext uri="{BB962C8B-B14F-4D97-AF65-F5344CB8AC3E}">
        <p14:creationId xmlns:p14="http://schemas.microsoft.com/office/powerpoint/2010/main" val="1100945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2" name="Rectangle 1">
            <a:extLst>
              <a:ext uri="{FF2B5EF4-FFF2-40B4-BE49-F238E27FC236}">
                <a16:creationId xmlns:a16="http://schemas.microsoft.com/office/drawing/2014/main" id="{E3CB23E1-EF6B-43AA-835E-269AC738177E}"/>
              </a:ext>
            </a:extLst>
          </p:cNvPr>
          <p:cNvSpPr/>
          <p:nvPr/>
        </p:nvSpPr>
        <p:spPr>
          <a:xfrm>
            <a:off x="351293" y="671471"/>
            <a:ext cx="6924844" cy="584775"/>
          </a:xfrm>
          <a:prstGeom prst="rect">
            <a:avLst/>
          </a:prstGeom>
        </p:spPr>
        <p:txBody>
          <a:bodyPr wrap="none">
            <a:spAutoFit/>
          </a:bodyPr>
          <a:lstStyle/>
          <a:p>
            <a:r>
              <a:rPr lang="vi-VN" sz="3200" b="1">
                <a:latin typeface="+mj-lt"/>
              </a:rPr>
              <a:t>2.6. Tính an ninh mạng trong hệ thống</a:t>
            </a:r>
            <a:endParaRPr lang="vi-VN" sz="3200">
              <a:latin typeface="+mj-lt"/>
            </a:endParaRPr>
          </a:p>
        </p:txBody>
      </p:sp>
      <p:sp>
        <p:nvSpPr>
          <p:cNvPr id="6" name="Rectangle 5">
            <a:extLst>
              <a:ext uri="{FF2B5EF4-FFF2-40B4-BE49-F238E27FC236}">
                <a16:creationId xmlns:a16="http://schemas.microsoft.com/office/drawing/2014/main" id="{2DE23C6A-3B2F-4847-84E0-E5B3F08E9DA4}"/>
              </a:ext>
            </a:extLst>
          </p:cNvPr>
          <p:cNvSpPr/>
          <p:nvPr/>
        </p:nvSpPr>
        <p:spPr>
          <a:xfrm>
            <a:off x="133578" y="44540"/>
            <a:ext cx="6494085" cy="646331"/>
          </a:xfrm>
          <a:prstGeom prst="rect">
            <a:avLst/>
          </a:prstGeom>
        </p:spPr>
        <p:txBody>
          <a:bodyPr wrap="none">
            <a:spAutoFit/>
          </a:bodyPr>
          <a:lstStyle/>
          <a:p>
            <a:r>
              <a:rPr lang="vi-VN" sz="3600" b="1"/>
              <a:t>2. Phân Tích Hệ Thống Mạng</a:t>
            </a:r>
          </a:p>
        </p:txBody>
      </p:sp>
      <p:sp>
        <p:nvSpPr>
          <p:cNvPr id="3" name="Rectangle 2">
            <a:extLst>
              <a:ext uri="{FF2B5EF4-FFF2-40B4-BE49-F238E27FC236}">
                <a16:creationId xmlns:a16="http://schemas.microsoft.com/office/drawing/2014/main" id="{5B24A7E7-4926-4EBA-A970-5DE41558B8E0}"/>
              </a:ext>
            </a:extLst>
          </p:cNvPr>
          <p:cNvSpPr/>
          <p:nvPr/>
        </p:nvSpPr>
        <p:spPr>
          <a:xfrm>
            <a:off x="143735" y="1256246"/>
            <a:ext cx="6788728" cy="2339102"/>
          </a:xfrm>
          <a:prstGeom prst="rect">
            <a:avLst/>
          </a:prstGeom>
        </p:spPr>
        <p:txBody>
          <a:bodyPr wrap="square">
            <a:spAutoFit/>
          </a:bodyPr>
          <a:lstStyle/>
          <a:p>
            <a:pPr>
              <a:spcBef>
                <a:spcPts val="200"/>
              </a:spcBef>
              <a:spcAft>
                <a:spcPts val="200"/>
              </a:spcAft>
            </a:pPr>
            <a:r>
              <a:rPr lang="vi-VN" b="1">
                <a:latin typeface="+mj-lt"/>
              </a:rPr>
              <a:t>c. </a:t>
            </a:r>
            <a:r>
              <a:rPr lang="vi-VN" i="1">
                <a:latin typeface="+mj-lt"/>
              </a:rPr>
              <a:t>Firewall – lớp bảo vệ biên mạng</a:t>
            </a:r>
          </a:p>
          <a:p>
            <a:pPr>
              <a:spcBef>
                <a:spcPts val="200"/>
              </a:spcBef>
              <a:spcAft>
                <a:spcPts val="200"/>
              </a:spcAft>
            </a:pPr>
            <a:r>
              <a:rPr lang="vi-VN">
                <a:latin typeface="+mj-lt"/>
              </a:rPr>
              <a:t>Thiết bị </a:t>
            </a:r>
            <a:r>
              <a:rPr lang="vi-VN" b="1">
                <a:latin typeface="+mj-lt"/>
              </a:rPr>
              <a:t>ASA 5505</a:t>
            </a:r>
            <a:r>
              <a:rPr lang="vi-VN">
                <a:latin typeface="+mj-lt"/>
              </a:rPr>
              <a:t> được triển khai giữa mạng nội bộ và Internet:</a:t>
            </a:r>
          </a:p>
          <a:p>
            <a:pPr>
              <a:spcBef>
                <a:spcPts val="200"/>
              </a:spcBef>
              <a:spcAft>
                <a:spcPts val="200"/>
              </a:spcAft>
            </a:pPr>
            <a:r>
              <a:rPr lang="vi-VN">
                <a:latin typeface="+mj-lt"/>
              </a:rPr>
              <a:t>- Kiểm soát luồng truy cập ra/vào Internet</a:t>
            </a:r>
          </a:p>
          <a:p>
            <a:pPr>
              <a:spcBef>
                <a:spcPts val="200"/>
              </a:spcBef>
              <a:spcAft>
                <a:spcPts val="200"/>
              </a:spcAft>
            </a:pPr>
            <a:r>
              <a:rPr lang="vi-VN">
                <a:latin typeface="+mj-lt"/>
              </a:rPr>
              <a:t>- Chặn các truy cập trái phép từ bên ngoài</a:t>
            </a:r>
          </a:p>
          <a:p>
            <a:pPr>
              <a:spcBef>
                <a:spcPts val="200"/>
              </a:spcBef>
              <a:spcAft>
                <a:spcPts val="200"/>
              </a:spcAft>
            </a:pPr>
            <a:r>
              <a:rPr lang="vi-VN">
                <a:latin typeface="+mj-lt"/>
              </a:rPr>
              <a:t>- Chỉ cho phép các dịch vụ cần thiết (Web, DNS, ICMP…)</a:t>
            </a:r>
          </a:p>
          <a:p>
            <a:pPr>
              <a:spcBef>
                <a:spcPts val="200"/>
              </a:spcBef>
              <a:spcAft>
                <a:spcPts val="200"/>
              </a:spcAft>
            </a:pPr>
            <a:r>
              <a:rPr lang="vi-VN">
                <a:latin typeface="+mj-lt"/>
              </a:rPr>
              <a:t>- Thực hiện </a:t>
            </a:r>
            <a:r>
              <a:rPr lang="vi-VN" b="1">
                <a:latin typeface="+mj-lt"/>
              </a:rPr>
              <a:t>NAT</a:t>
            </a:r>
            <a:r>
              <a:rPr lang="vi-VN">
                <a:latin typeface="+mj-lt"/>
              </a:rPr>
              <a:t> để che giấu IP nội bộ</a:t>
            </a:r>
          </a:p>
          <a:p>
            <a:pPr>
              <a:spcBef>
                <a:spcPts val="200"/>
              </a:spcBef>
              <a:spcAft>
                <a:spcPts val="200"/>
              </a:spcAft>
            </a:pPr>
            <a:r>
              <a:rPr lang="vi-VN">
                <a:latin typeface="+mj-lt"/>
              </a:rPr>
              <a:t>👉 Tất cả truy cập Internet </a:t>
            </a:r>
            <a:r>
              <a:rPr lang="vi-VN" b="1">
                <a:latin typeface="+mj-lt"/>
              </a:rPr>
              <a:t>bắt buộc đi qua Firewall</a:t>
            </a:r>
            <a:r>
              <a:rPr lang="vi-VN">
                <a:latin typeface="+mj-lt"/>
              </a:rPr>
              <a:t>.</a:t>
            </a:r>
          </a:p>
        </p:txBody>
      </p:sp>
      <p:sp>
        <p:nvSpPr>
          <p:cNvPr id="4" name="Rectangle 3">
            <a:extLst>
              <a:ext uri="{FF2B5EF4-FFF2-40B4-BE49-F238E27FC236}">
                <a16:creationId xmlns:a16="http://schemas.microsoft.com/office/drawing/2014/main" id="{ECA595DD-8B81-4CD4-8BF2-79E5AE9299FB}"/>
              </a:ext>
            </a:extLst>
          </p:cNvPr>
          <p:cNvSpPr/>
          <p:nvPr/>
        </p:nvSpPr>
        <p:spPr>
          <a:xfrm>
            <a:off x="6715646" y="1256246"/>
            <a:ext cx="5010156" cy="2995692"/>
          </a:xfrm>
          <a:prstGeom prst="rect">
            <a:avLst/>
          </a:prstGeom>
        </p:spPr>
        <p:txBody>
          <a:bodyPr wrap="square">
            <a:spAutoFit/>
          </a:bodyPr>
          <a:lstStyle/>
          <a:p>
            <a:pPr>
              <a:spcBef>
                <a:spcPts val="200"/>
              </a:spcBef>
              <a:spcAft>
                <a:spcPts val="200"/>
              </a:spcAft>
            </a:pPr>
            <a:r>
              <a:rPr lang="vi-VN" b="1">
                <a:latin typeface="+mj-lt"/>
              </a:rPr>
              <a:t>d. </a:t>
            </a:r>
            <a:r>
              <a:rPr lang="vi-VN" i="1">
                <a:latin typeface="+mj-lt"/>
              </a:rPr>
              <a:t>Kiểm soát truy cập bằng Router &amp; ACL</a:t>
            </a:r>
          </a:p>
          <a:p>
            <a:pPr>
              <a:spcBef>
                <a:spcPts val="200"/>
              </a:spcBef>
              <a:spcAft>
                <a:spcPts val="200"/>
              </a:spcAft>
            </a:pPr>
            <a:r>
              <a:rPr lang="vi-VN">
                <a:latin typeface="+mj-lt"/>
              </a:rPr>
              <a:t>- Router Trung Tâm định tuyến giữa các subnet</a:t>
            </a:r>
          </a:p>
          <a:p>
            <a:pPr>
              <a:spcBef>
                <a:spcPts val="200"/>
              </a:spcBef>
              <a:spcAft>
                <a:spcPts val="200"/>
              </a:spcAft>
            </a:pPr>
            <a:r>
              <a:rPr lang="vi-VN">
                <a:latin typeface="+mj-lt"/>
              </a:rPr>
              <a:t>- Có thể áp dụng ACL (Access Control List) để:</a:t>
            </a:r>
          </a:p>
          <a:p>
            <a:pPr lvl="1">
              <a:spcBef>
                <a:spcPts val="200"/>
              </a:spcBef>
              <a:spcAft>
                <a:spcPts val="200"/>
              </a:spcAft>
            </a:pPr>
            <a:r>
              <a:rPr lang="vi-VN">
                <a:latin typeface="+mj-lt"/>
              </a:rPr>
              <a:t>+ Hạn chế mạng sinh viên truy cập Server</a:t>
            </a:r>
          </a:p>
          <a:p>
            <a:pPr lvl="1">
              <a:spcBef>
                <a:spcPts val="200"/>
              </a:spcBef>
              <a:spcAft>
                <a:spcPts val="200"/>
              </a:spcAft>
            </a:pPr>
            <a:r>
              <a:rPr lang="vi-VN">
                <a:latin typeface="+mj-lt"/>
              </a:rPr>
              <a:t>+ Cho phép Phòng GV truy cập dịch vụ nội bộ</a:t>
            </a:r>
          </a:p>
          <a:p>
            <a:pPr lvl="1">
              <a:spcBef>
                <a:spcPts val="200"/>
              </a:spcBef>
              <a:spcAft>
                <a:spcPts val="200"/>
              </a:spcAft>
            </a:pPr>
            <a:r>
              <a:rPr lang="vi-VN">
                <a:latin typeface="+mj-lt"/>
              </a:rPr>
              <a:t>+ Giới hạn quyền của mạng Wifi</a:t>
            </a:r>
          </a:p>
          <a:p>
            <a:pPr>
              <a:spcBef>
                <a:spcPts val="200"/>
              </a:spcBef>
              <a:spcAft>
                <a:spcPts val="200"/>
              </a:spcAft>
            </a:pPr>
            <a:r>
              <a:rPr lang="vi-VN">
                <a:latin typeface="+mj-lt"/>
              </a:rPr>
              <a:t>Ví dụ:</a:t>
            </a:r>
          </a:p>
          <a:p>
            <a:pPr>
              <a:spcBef>
                <a:spcPts val="200"/>
              </a:spcBef>
              <a:spcAft>
                <a:spcPts val="200"/>
              </a:spcAft>
            </a:pPr>
            <a:r>
              <a:rPr lang="vi-VN">
                <a:latin typeface="+mj-lt"/>
              </a:rPr>
              <a:t>- Wifi chỉ được ra Internet</a:t>
            </a:r>
          </a:p>
          <a:p>
            <a:pPr>
              <a:spcBef>
                <a:spcPts val="200"/>
              </a:spcBef>
              <a:spcAft>
                <a:spcPts val="200"/>
              </a:spcAft>
            </a:pPr>
            <a:r>
              <a:rPr lang="vi-VN">
                <a:latin typeface="+mj-lt"/>
              </a:rPr>
              <a:t>- Sinh viên không truy cập trực tiếp Server quản trị</a:t>
            </a:r>
          </a:p>
        </p:txBody>
      </p:sp>
      <p:sp>
        <p:nvSpPr>
          <p:cNvPr id="11" name="Rectangle 10">
            <a:extLst>
              <a:ext uri="{FF2B5EF4-FFF2-40B4-BE49-F238E27FC236}">
                <a16:creationId xmlns:a16="http://schemas.microsoft.com/office/drawing/2014/main" id="{90F2AE54-037A-4EE3-ACF7-705F28A89E3E}"/>
              </a:ext>
            </a:extLst>
          </p:cNvPr>
          <p:cNvSpPr/>
          <p:nvPr/>
        </p:nvSpPr>
        <p:spPr>
          <a:xfrm>
            <a:off x="143735" y="3771084"/>
            <a:ext cx="6096000" cy="2339102"/>
          </a:xfrm>
          <a:prstGeom prst="rect">
            <a:avLst/>
          </a:prstGeom>
        </p:spPr>
        <p:txBody>
          <a:bodyPr>
            <a:spAutoFit/>
          </a:bodyPr>
          <a:lstStyle/>
          <a:p>
            <a:pPr>
              <a:spcBef>
                <a:spcPts val="200"/>
              </a:spcBef>
              <a:spcAft>
                <a:spcPts val="200"/>
              </a:spcAft>
            </a:pPr>
            <a:r>
              <a:rPr lang="vi-VN" b="1">
                <a:latin typeface="+mj-lt"/>
              </a:rPr>
              <a:t>e. </a:t>
            </a:r>
            <a:r>
              <a:rPr lang="vi-VN" i="1">
                <a:latin typeface="+mj-lt"/>
              </a:rPr>
              <a:t>An ninh cho mạng Wifi</a:t>
            </a:r>
          </a:p>
          <a:p>
            <a:pPr>
              <a:spcBef>
                <a:spcPts val="200"/>
              </a:spcBef>
              <a:spcAft>
                <a:spcPts val="200"/>
              </a:spcAft>
            </a:pPr>
            <a:r>
              <a:rPr lang="vi-VN">
                <a:latin typeface="+mj-lt"/>
              </a:rPr>
              <a:t>Mạng Wifi học sinh được thiết kế:</a:t>
            </a:r>
          </a:p>
          <a:p>
            <a:pPr>
              <a:spcBef>
                <a:spcPts val="200"/>
              </a:spcBef>
              <a:spcAft>
                <a:spcPts val="200"/>
              </a:spcAft>
            </a:pPr>
            <a:r>
              <a:rPr lang="vi-VN">
                <a:latin typeface="+mj-lt"/>
              </a:rPr>
              <a:t>- Subnet riêng: 172.16.14.0/24</a:t>
            </a:r>
          </a:p>
          <a:p>
            <a:pPr>
              <a:spcBef>
                <a:spcPts val="200"/>
              </a:spcBef>
              <a:spcAft>
                <a:spcPts val="200"/>
              </a:spcAft>
            </a:pPr>
            <a:r>
              <a:rPr lang="vi-VN">
                <a:latin typeface="+mj-lt"/>
              </a:rPr>
              <a:t>- Kết nối qua Router riêng</a:t>
            </a:r>
          </a:p>
          <a:p>
            <a:pPr>
              <a:spcBef>
                <a:spcPts val="200"/>
              </a:spcBef>
              <a:spcAft>
                <a:spcPts val="200"/>
              </a:spcAft>
            </a:pPr>
            <a:r>
              <a:rPr lang="vi-VN">
                <a:latin typeface="+mj-lt"/>
              </a:rPr>
              <a:t>- Không truy cập trực tiếp mạng Server</a:t>
            </a:r>
          </a:p>
          <a:p>
            <a:pPr>
              <a:spcBef>
                <a:spcPts val="200"/>
              </a:spcBef>
              <a:spcAft>
                <a:spcPts val="200"/>
              </a:spcAft>
            </a:pPr>
            <a:r>
              <a:rPr lang="vi-VN">
                <a:latin typeface="+mj-lt"/>
              </a:rPr>
              <a:t>- Giảm nguy cơ tấn công từ thiết bị cá nhân</a:t>
            </a:r>
          </a:p>
          <a:p>
            <a:pPr>
              <a:spcBef>
                <a:spcPts val="200"/>
              </a:spcBef>
              <a:spcAft>
                <a:spcPts val="200"/>
              </a:spcAft>
            </a:pPr>
            <a:r>
              <a:rPr lang="vi-VN">
                <a:latin typeface="+mj-lt"/>
              </a:rPr>
              <a:t>👉 Đây là biện pháp </a:t>
            </a:r>
            <a:r>
              <a:rPr lang="vi-VN" b="1">
                <a:latin typeface="+mj-lt"/>
              </a:rPr>
              <a:t>cách ly mạng không tin cậy</a:t>
            </a:r>
            <a:r>
              <a:rPr lang="vi-VN">
                <a:latin typeface="+mj-lt"/>
              </a:rPr>
              <a:t>.</a:t>
            </a:r>
          </a:p>
        </p:txBody>
      </p:sp>
      <p:sp>
        <p:nvSpPr>
          <p:cNvPr id="12" name="Rectangle 11">
            <a:extLst>
              <a:ext uri="{FF2B5EF4-FFF2-40B4-BE49-F238E27FC236}">
                <a16:creationId xmlns:a16="http://schemas.microsoft.com/office/drawing/2014/main" id="{D7975E5F-FFA3-4A4C-8CAE-2DA5A013464D}"/>
              </a:ext>
            </a:extLst>
          </p:cNvPr>
          <p:cNvSpPr/>
          <p:nvPr/>
        </p:nvSpPr>
        <p:spPr>
          <a:xfrm>
            <a:off x="6754663" y="4396918"/>
            <a:ext cx="5548626" cy="1477328"/>
          </a:xfrm>
          <a:prstGeom prst="rect">
            <a:avLst/>
          </a:prstGeom>
        </p:spPr>
        <p:txBody>
          <a:bodyPr wrap="square">
            <a:spAutoFit/>
          </a:bodyPr>
          <a:lstStyle/>
          <a:p>
            <a:r>
              <a:rPr lang="vi-VN" b="1">
                <a:latin typeface="+mj-lt"/>
              </a:rPr>
              <a:t>f. </a:t>
            </a:r>
            <a:r>
              <a:rPr lang="vi-VN" i="1">
                <a:latin typeface="+mj-lt"/>
              </a:rPr>
              <a:t>An ninh theo luồng dữ liệu</a:t>
            </a:r>
          </a:p>
          <a:p>
            <a:r>
              <a:rPr lang="vi-VN">
                <a:latin typeface="+mj-lt"/>
              </a:rPr>
              <a:t>- Luồng nội bộ: xử lý trong LAN → tốc độ cao, an toàn</a:t>
            </a:r>
          </a:p>
          <a:p>
            <a:r>
              <a:rPr lang="vi-VN">
                <a:latin typeface="+mj-lt"/>
              </a:rPr>
              <a:t>- Luồng Internet: đi qua Router → Firewall → Internet</a:t>
            </a:r>
          </a:p>
          <a:p>
            <a:r>
              <a:rPr lang="vi-VN">
                <a:latin typeface="+mj-lt"/>
              </a:rPr>
              <a:t>- Luồng Wifi: bị kiểm soát, không ảnh hưởng mạng nội bộ</a:t>
            </a:r>
          </a:p>
          <a:p>
            <a:r>
              <a:rPr lang="vi-VN">
                <a:latin typeface="+mj-lt"/>
              </a:rPr>
              <a:t>👉 Mỗi luồng đều có </a:t>
            </a:r>
            <a:r>
              <a:rPr lang="vi-VN" b="1">
                <a:latin typeface="+mj-lt"/>
              </a:rPr>
              <a:t>điểm kiểm soát an ninh riêng</a:t>
            </a:r>
            <a:r>
              <a:rPr lang="vi-VN">
                <a:latin typeface="+mj-lt"/>
              </a:rPr>
              <a:t>.</a:t>
            </a:r>
          </a:p>
        </p:txBody>
      </p:sp>
    </p:spTree>
    <p:extLst>
      <p:ext uri="{BB962C8B-B14F-4D97-AF65-F5344CB8AC3E}">
        <p14:creationId xmlns:p14="http://schemas.microsoft.com/office/powerpoint/2010/main" val="3772884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2" name="Rectangle 1">
            <a:extLst>
              <a:ext uri="{FF2B5EF4-FFF2-40B4-BE49-F238E27FC236}">
                <a16:creationId xmlns:a16="http://schemas.microsoft.com/office/drawing/2014/main" id="{E3CB23E1-EF6B-43AA-835E-269AC738177E}"/>
              </a:ext>
            </a:extLst>
          </p:cNvPr>
          <p:cNvSpPr/>
          <p:nvPr/>
        </p:nvSpPr>
        <p:spPr>
          <a:xfrm>
            <a:off x="652951" y="690871"/>
            <a:ext cx="4989443" cy="584775"/>
          </a:xfrm>
          <a:prstGeom prst="rect">
            <a:avLst/>
          </a:prstGeom>
        </p:spPr>
        <p:txBody>
          <a:bodyPr wrap="none">
            <a:spAutoFit/>
          </a:bodyPr>
          <a:lstStyle/>
          <a:p>
            <a:r>
              <a:rPr lang="vi-VN" sz="3200" b="1">
                <a:latin typeface="+mj-lt"/>
              </a:rPr>
              <a:t>2.7. Triển khai dịch vụ FTP</a:t>
            </a:r>
            <a:endParaRPr lang="vi-VN" sz="3200">
              <a:latin typeface="+mj-lt"/>
            </a:endParaRPr>
          </a:p>
        </p:txBody>
      </p:sp>
      <p:sp>
        <p:nvSpPr>
          <p:cNvPr id="6" name="Rectangle 5">
            <a:extLst>
              <a:ext uri="{FF2B5EF4-FFF2-40B4-BE49-F238E27FC236}">
                <a16:creationId xmlns:a16="http://schemas.microsoft.com/office/drawing/2014/main" id="{2DE23C6A-3B2F-4847-84E0-E5B3F08E9DA4}"/>
              </a:ext>
            </a:extLst>
          </p:cNvPr>
          <p:cNvSpPr/>
          <p:nvPr/>
        </p:nvSpPr>
        <p:spPr>
          <a:xfrm>
            <a:off x="133578" y="44540"/>
            <a:ext cx="6494085" cy="646331"/>
          </a:xfrm>
          <a:prstGeom prst="rect">
            <a:avLst/>
          </a:prstGeom>
        </p:spPr>
        <p:txBody>
          <a:bodyPr wrap="none">
            <a:spAutoFit/>
          </a:bodyPr>
          <a:lstStyle/>
          <a:p>
            <a:r>
              <a:rPr lang="vi-VN" sz="3600" b="1"/>
              <a:t>2. Phân Tích Hệ Thống Mạng</a:t>
            </a:r>
          </a:p>
        </p:txBody>
      </p:sp>
      <p:pic>
        <p:nvPicPr>
          <p:cNvPr id="3" name="Picture 2">
            <a:extLst>
              <a:ext uri="{FF2B5EF4-FFF2-40B4-BE49-F238E27FC236}">
                <a16:creationId xmlns:a16="http://schemas.microsoft.com/office/drawing/2014/main" id="{E3DA2AB8-D80E-4311-9A6D-968BB419C09F}"/>
              </a:ext>
            </a:extLst>
          </p:cNvPr>
          <p:cNvPicPr>
            <a:picLocks noChangeAspect="1"/>
          </p:cNvPicPr>
          <p:nvPr/>
        </p:nvPicPr>
        <p:blipFill>
          <a:blip r:embed="rId2"/>
          <a:stretch>
            <a:fillRect/>
          </a:stretch>
        </p:blipFill>
        <p:spPr>
          <a:xfrm>
            <a:off x="6446981" y="2583059"/>
            <a:ext cx="5400551" cy="3391373"/>
          </a:xfrm>
          <a:prstGeom prst="rect">
            <a:avLst/>
          </a:prstGeom>
        </p:spPr>
      </p:pic>
      <p:sp>
        <p:nvSpPr>
          <p:cNvPr id="4" name="Rectangle 3">
            <a:extLst>
              <a:ext uri="{FF2B5EF4-FFF2-40B4-BE49-F238E27FC236}">
                <a16:creationId xmlns:a16="http://schemas.microsoft.com/office/drawing/2014/main" id="{79ACBF4D-F8C4-49F3-A706-3BB18A74DF98}"/>
              </a:ext>
            </a:extLst>
          </p:cNvPr>
          <p:cNvSpPr/>
          <p:nvPr/>
        </p:nvSpPr>
        <p:spPr>
          <a:xfrm>
            <a:off x="390649" y="1275646"/>
            <a:ext cx="11533495" cy="1200329"/>
          </a:xfrm>
          <a:prstGeom prst="rect">
            <a:avLst/>
          </a:prstGeom>
        </p:spPr>
        <p:txBody>
          <a:bodyPr wrap="square">
            <a:spAutoFit/>
          </a:bodyPr>
          <a:lstStyle/>
          <a:p>
            <a:r>
              <a:rPr lang="vi-VN">
                <a:latin typeface="+mj-lt"/>
              </a:rPr>
              <a:t>Máy Giáo viên truy cập dịch vụ FTP bằng giao thức FTP đến máy chủ FTP tại địa chỉ 172.16.10.3. Sau khi xác thực bằng tài khoản hợp lệ (username: GV, password: ***), người dùng có thể thực hiện các thao tác quản lý tập tin như xem danh sách file, tải file từ server về máy trạm, upload file lên server và xóa file. Quá trình truyền dữ liệu diễn ra trong mạng nội bộ thông qua cơ chế định tuyến liên VLAN tại Router Trung Tâm.</a:t>
            </a:r>
          </a:p>
        </p:txBody>
      </p:sp>
      <p:pic>
        <p:nvPicPr>
          <p:cNvPr id="7" name="Picture 6">
            <a:extLst>
              <a:ext uri="{FF2B5EF4-FFF2-40B4-BE49-F238E27FC236}">
                <a16:creationId xmlns:a16="http://schemas.microsoft.com/office/drawing/2014/main" id="{1ED4357B-70F5-4E24-81E1-06E0437B98F0}"/>
              </a:ext>
            </a:extLst>
          </p:cNvPr>
          <p:cNvPicPr>
            <a:picLocks noChangeAspect="1"/>
          </p:cNvPicPr>
          <p:nvPr/>
        </p:nvPicPr>
        <p:blipFill>
          <a:blip r:embed="rId3"/>
          <a:stretch>
            <a:fillRect/>
          </a:stretch>
        </p:blipFill>
        <p:spPr>
          <a:xfrm>
            <a:off x="923274" y="2688996"/>
            <a:ext cx="4448796" cy="3324689"/>
          </a:xfrm>
          <a:prstGeom prst="rect">
            <a:avLst/>
          </a:prstGeom>
        </p:spPr>
      </p:pic>
    </p:spTree>
    <p:extLst>
      <p:ext uri="{BB962C8B-B14F-4D97-AF65-F5344CB8AC3E}">
        <p14:creationId xmlns:p14="http://schemas.microsoft.com/office/powerpoint/2010/main" val="3952656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2" name="Rectangle 1">
            <a:extLst>
              <a:ext uri="{FF2B5EF4-FFF2-40B4-BE49-F238E27FC236}">
                <a16:creationId xmlns:a16="http://schemas.microsoft.com/office/drawing/2014/main" id="{E3CB23E1-EF6B-43AA-835E-269AC738177E}"/>
              </a:ext>
            </a:extLst>
          </p:cNvPr>
          <p:cNvSpPr/>
          <p:nvPr/>
        </p:nvSpPr>
        <p:spPr>
          <a:xfrm>
            <a:off x="335705" y="760977"/>
            <a:ext cx="5760295" cy="584775"/>
          </a:xfrm>
          <a:prstGeom prst="rect">
            <a:avLst/>
          </a:prstGeom>
        </p:spPr>
        <p:txBody>
          <a:bodyPr wrap="none">
            <a:spAutoFit/>
          </a:bodyPr>
          <a:lstStyle/>
          <a:p>
            <a:r>
              <a:rPr lang="vi-VN" sz="3200" b="1">
                <a:latin typeface="+mj-lt"/>
              </a:rPr>
              <a:t>2.8. Cài đặt cấu hình trang Web</a:t>
            </a:r>
            <a:endParaRPr lang="vi-VN" sz="3200">
              <a:latin typeface="+mj-lt"/>
            </a:endParaRPr>
          </a:p>
        </p:txBody>
      </p:sp>
      <p:sp>
        <p:nvSpPr>
          <p:cNvPr id="6" name="Rectangle 5">
            <a:extLst>
              <a:ext uri="{FF2B5EF4-FFF2-40B4-BE49-F238E27FC236}">
                <a16:creationId xmlns:a16="http://schemas.microsoft.com/office/drawing/2014/main" id="{2DE23C6A-3B2F-4847-84E0-E5B3F08E9DA4}"/>
              </a:ext>
            </a:extLst>
          </p:cNvPr>
          <p:cNvSpPr/>
          <p:nvPr/>
        </p:nvSpPr>
        <p:spPr>
          <a:xfrm>
            <a:off x="133578" y="44540"/>
            <a:ext cx="6494085" cy="646331"/>
          </a:xfrm>
          <a:prstGeom prst="rect">
            <a:avLst/>
          </a:prstGeom>
        </p:spPr>
        <p:txBody>
          <a:bodyPr wrap="none">
            <a:spAutoFit/>
          </a:bodyPr>
          <a:lstStyle/>
          <a:p>
            <a:r>
              <a:rPr lang="vi-VN" sz="3600" b="1"/>
              <a:t>2. Phân Tích Hệ Thống Mạng</a:t>
            </a:r>
          </a:p>
        </p:txBody>
      </p:sp>
      <p:sp>
        <p:nvSpPr>
          <p:cNvPr id="3" name="Rectangle 1">
            <a:extLst>
              <a:ext uri="{FF2B5EF4-FFF2-40B4-BE49-F238E27FC236}">
                <a16:creationId xmlns:a16="http://schemas.microsoft.com/office/drawing/2014/main" id="{70B6F135-4986-474C-B47B-4C090FFD5E5F}"/>
              </a:ext>
            </a:extLst>
          </p:cNvPr>
          <p:cNvSpPr>
            <a:spLocks noChangeArrowheads="1"/>
          </p:cNvSpPr>
          <p:nvPr/>
        </p:nvSpPr>
        <p:spPr bwMode="auto">
          <a:xfrm>
            <a:off x="572449" y="1157524"/>
            <a:ext cx="8433005" cy="6119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ts val="100"/>
              </a:spcBef>
              <a:spcAft>
                <a:spcPts val="100"/>
              </a:spcAft>
              <a:buClrTx/>
              <a:buSzTx/>
              <a:tabLst/>
            </a:pPr>
            <a:r>
              <a:rPr lang="vi-VN" altLang="vi-VN">
                <a:latin typeface="+mj-lt"/>
              </a:rPr>
              <a:t>- Vị trí triển khai</a:t>
            </a:r>
          </a:p>
          <a:p>
            <a:pPr marL="268288" marR="0" lvl="0" algn="just" defTabSz="914400" rtl="0" eaLnBrk="0" fontAlgn="base" latinLnBrk="0" hangingPunct="0">
              <a:lnSpc>
                <a:spcPct val="100000"/>
              </a:lnSpc>
              <a:spcBef>
                <a:spcPts val="100"/>
              </a:spcBef>
              <a:spcAft>
                <a:spcPts val="100"/>
              </a:spcAft>
              <a:buClrTx/>
              <a:buSzTx/>
              <a:tabLst/>
            </a:pPr>
            <a:r>
              <a:rPr lang="vi-VN" altLang="vi-VN">
                <a:latin typeface="+mj-lt"/>
              </a:rPr>
              <a:t>+ Website được cài đặt trên Web Server nội bộ</a:t>
            </a:r>
          </a:p>
          <a:p>
            <a:pPr marL="268288" marR="0" lvl="0" algn="just" defTabSz="914400" rtl="0" eaLnBrk="0" fontAlgn="base" latinLnBrk="0" hangingPunct="0">
              <a:lnSpc>
                <a:spcPct val="100000"/>
              </a:lnSpc>
              <a:spcBef>
                <a:spcPts val="100"/>
              </a:spcBef>
              <a:spcAft>
                <a:spcPts val="100"/>
              </a:spcAft>
              <a:buClrTx/>
              <a:buSzTx/>
              <a:tabLst/>
            </a:pPr>
            <a:r>
              <a:rPr lang="vi-VN" altLang="vi-VN">
                <a:latin typeface="+mj-lt"/>
              </a:rPr>
              <a:t>+ Thuộc mạng Server: 172.16.10.0/24</a:t>
            </a:r>
          </a:p>
          <a:p>
            <a:pPr marL="268288" marR="0" lvl="0" algn="just" defTabSz="914400" rtl="0" eaLnBrk="0" fontAlgn="base" latinLnBrk="0" hangingPunct="0">
              <a:lnSpc>
                <a:spcPct val="100000"/>
              </a:lnSpc>
              <a:spcBef>
                <a:spcPts val="100"/>
              </a:spcBef>
              <a:spcAft>
                <a:spcPts val="100"/>
              </a:spcAft>
              <a:buClrTx/>
              <a:buSzTx/>
              <a:tabLst/>
            </a:pPr>
            <a:r>
              <a:rPr lang="vi-VN" altLang="vi-VN">
                <a:latin typeface="+mj-lt"/>
              </a:rPr>
              <a:t>+ Kết nối qua Switch phòng Server → Switch Trung Tâm</a:t>
            </a:r>
          </a:p>
          <a:p>
            <a:pPr marL="0" marR="0" lvl="0" indent="0" algn="just" defTabSz="914400" rtl="0" eaLnBrk="0" fontAlgn="base" latinLnBrk="0" hangingPunct="0">
              <a:lnSpc>
                <a:spcPct val="100000"/>
              </a:lnSpc>
              <a:spcBef>
                <a:spcPts val="100"/>
              </a:spcBef>
              <a:spcAft>
                <a:spcPts val="100"/>
              </a:spcAft>
              <a:buClrTx/>
              <a:buSzTx/>
              <a:tabLst/>
            </a:pPr>
            <a:r>
              <a:rPr lang="vi-VN" altLang="vi-VN">
                <a:latin typeface="+mj-lt"/>
              </a:rPr>
              <a:t>- Cấu hình dịch vụ Web</a:t>
            </a:r>
          </a:p>
          <a:p>
            <a:pPr marL="360363" marR="0" lvl="0" algn="just" defTabSz="914400" rtl="0" eaLnBrk="0" fontAlgn="base" latinLnBrk="0" hangingPunct="0">
              <a:lnSpc>
                <a:spcPct val="100000"/>
              </a:lnSpc>
              <a:spcBef>
                <a:spcPts val="100"/>
              </a:spcBef>
              <a:spcAft>
                <a:spcPts val="100"/>
              </a:spcAft>
              <a:buClrTx/>
              <a:buSzTx/>
              <a:tabLst/>
            </a:pPr>
            <a:r>
              <a:rPr lang="vi-VN" altLang="vi-VN">
                <a:latin typeface="+mj-lt"/>
              </a:rPr>
              <a:t>+ Cài đặt dịch vụ HTTP (port 80)</a:t>
            </a:r>
          </a:p>
          <a:p>
            <a:pPr marL="360363" marR="0" lvl="0" algn="just" defTabSz="914400" rtl="0" eaLnBrk="0" fontAlgn="base" latinLnBrk="0" hangingPunct="0">
              <a:lnSpc>
                <a:spcPct val="100000"/>
              </a:lnSpc>
              <a:spcBef>
                <a:spcPts val="100"/>
              </a:spcBef>
              <a:spcAft>
                <a:spcPts val="100"/>
              </a:spcAft>
              <a:buClrTx/>
              <a:buSzTx/>
              <a:tabLst/>
            </a:pPr>
            <a:r>
              <a:rPr lang="vi-VN" altLang="vi-VN">
                <a:latin typeface="+mj-lt"/>
              </a:rPr>
              <a:t>+ Cấu hình trang web tĩnh (HTML) phục vụ truy cập nội bộ</a:t>
            </a:r>
          </a:p>
          <a:p>
            <a:pPr marL="360363" marR="0" lvl="0" algn="just" defTabSz="914400" rtl="0" eaLnBrk="0" fontAlgn="base" latinLnBrk="0" hangingPunct="0">
              <a:lnSpc>
                <a:spcPct val="100000"/>
              </a:lnSpc>
              <a:spcBef>
                <a:spcPts val="100"/>
              </a:spcBef>
              <a:spcAft>
                <a:spcPts val="100"/>
              </a:spcAft>
              <a:buClrTx/>
              <a:buSzTx/>
              <a:tabLst/>
            </a:pPr>
            <a:r>
              <a:rPr lang="vi-VN" altLang="vi-VN">
                <a:latin typeface="+mj-lt"/>
              </a:rPr>
              <a:t>+Có thể mở rộng sang HTTPS (port 443)</a:t>
            </a:r>
          </a:p>
          <a:p>
            <a:pPr marR="0" lvl="0" algn="just" defTabSz="914400" rtl="0" eaLnBrk="0" fontAlgn="base" latinLnBrk="0" hangingPunct="0">
              <a:lnSpc>
                <a:spcPct val="100000"/>
              </a:lnSpc>
              <a:spcBef>
                <a:spcPts val="100"/>
              </a:spcBef>
              <a:spcAft>
                <a:spcPts val="100"/>
              </a:spcAft>
              <a:buClrTx/>
              <a:buSzTx/>
              <a:tabLst/>
            </a:pPr>
            <a:r>
              <a:rPr lang="vi-VN" altLang="vi-VN">
                <a:latin typeface="+mj-lt"/>
              </a:rPr>
              <a:t>- Luồng truy cập Website</a:t>
            </a:r>
          </a:p>
          <a:p>
            <a:pPr marL="360363" marR="0" lvl="0" algn="just" defTabSz="914400" rtl="0" eaLnBrk="0" fontAlgn="base" latinLnBrk="0" hangingPunct="0">
              <a:lnSpc>
                <a:spcPct val="100000"/>
              </a:lnSpc>
              <a:spcBef>
                <a:spcPts val="100"/>
              </a:spcBef>
              <a:spcAft>
                <a:spcPts val="100"/>
              </a:spcAft>
              <a:buClrTx/>
              <a:buSzTx/>
              <a:tabLst/>
            </a:pPr>
            <a:r>
              <a:rPr lang="vi-VN" altLang="vi-VN">
                <a:latin typeface="+mj-lt"/>
              </a:rPr>
              <a:t>+ Người dùng nội bộ → Switch phòng ban → Switch Trung Tâm → Web Server</a:t>
            </a:r>
          </a:p>
          <a:p>
            <a:pPr marL="360363" marR="0" lvl="0" algn="just" defTabSz="914400" rtl="0" eaLnBrk="0" fontAlgn="base" latinLnBrk="0" hangingPunct="0">
              <a:lnSpc>
                <a:spcPct val="100000"/>
              </a:lnSpc>
              <a:spcBef>
                <a:spcPts val="100"/>
              </a:spcBef>
              <a:spcAft>
                <a:spcPts val="100"/>
              </a:spcAft>
              <a:buClrTx/>
              <a:buSzTx/>
              <a:tabLst/>
            </a:pPr>
            <a:r>
              <a:rPr lang="vi-VN" altLang="vi-VN">
                <a:latin typeface="+mj-lt"/>
              </a:rPr>
              <a:t>+ Truy cập từ Internet → Firewall → NAT → Web Server (nếu cho phép)</a:t>
            </a:r>
          </a:p>
          <a:p>
            <a:pPr marL="0" marR="0" lvl="0" indent="0" algn="just" defTabSz="914400" rtl="0" eaLnBrk="0" fontAlgn="base" latinLnBrk="0" hangingPunct="0">
              <a:lnSpc>
                <a:spcPct val="100000"/>
              </a:lnSpc>
              <a:spcBef>
                <a:spcPts val="100"/>
              </a:spcBef>
              <a:spcAft>
                <a:spcPts val="100"/>
              </a:spcAft>
              <a:buClrTx/>
              <a:buSzTx/>
              <a:tabLst/>
            </a:pPr>
            <a:r>
              <a:rPr lang="vi-VN" altLang="vi-VN">
                <a:latin typeface="+mj-lt"/>
              </a:rPr>
              <a:t>- Bảo mật Website</a:t>
            </a:r>
          </a:p>
          <a:p>
            <a:pPr marL="360363" marR="0" lvl="0" algn="just" defTabSz="914400" rtl="0" eaLnBrk="0" fontAlgn="base" latinLnBrk="0" hangingPunct="0">
              <a:lnSpc>
                <a:spcPct val="100000"/>
              </a:lnSpc>
              <a:spcBef>
                <a:spcPts val="100"/>
              </a:spcBef>
              <a:spcAft>
                <a:spcPts val="100"/>
              </a:spcAft>
              <a:buClrTx/>
              <a:buSzTx/>
              <a:tabLst/>
            </a:pPr>
            <a:r>
              <a:rPr lang="vi-VN" altLang="vi-VN">
                <a:latin typeface="+mj-lt"/>
              </a:rPr>
              <a:t>+ Chỉ mở các cổng dịch vụ cần thiết (HTTP/HTTPS)</a:t>
            </a:r>
          </a:p>
          <a:p>
            <a:pPr marL="360363" marR="0" lvl="0" algn="just" defTabSz="914400" rtl="0" eaLnBrk="0" fontAlgn="base" latinLnBrk="0" hangingPunct="0">
              <a:lnSpc>
                <a:spcPct val="100000"/>
              </a:lnSpc>
              <a:spcBef>
                <a:spcPts val="100"/>
              </a:spcBef>
              <a:spcAft>
                <a:spcPts val="100"/>
              </a:spcAft>
              <a:buClrTx/>
              <a:buSzTx/>
              <a:tabLst/>
            </a:pPr>
            <a:r>
              <a:rPr lang="vi-VN" altLang="vi-VN">
                <a:latin typeface="+mj-lt"/>
              </a:rPr>
              <a:t>+ Áp dụng ACL hạn chế truy cập từ các mạng không tin cậy</a:t>
            </a:r>
          </a:p>
          <a:p>
            <a:pPr marL="360363" marR="0" lvl="0" algn="just" defTabSz="914400" rtl="0" eaLnBrk="0" fontAlgn="base" latinLnBrk="0" hangingPunct="0">
              <a:lnSpc>
                <a:spcPct val="100000"/>
              </a:lnSpc>
              <a:spcBef>
                <a:spcPts val="100"/>
              </a:spcBef>
              <a:spcAft>
                <a:spcPts val="100"/>
              </a:spcAft>
              <a:buClrTx/>
              <a:buSzTx/>
              <a:tabLst/>
            </a:pPr>
            <a:r>
              <a:rPr lang="vi-VN" altLang="vi-VN">
                <a:latin typeface="+mj-lt"/>
              </a:rPr>
              <a:t>+ Tách Web Server khỏi mạng người dùng để tránh tấn công lan truyền</a:t>
            </a:r>
          </a:p>
          <a:p>
            <a:pPr lvl="0" algn="just" eaLnBrk="0" fontAlgn="base" hangingPunct="0">
              <a:spcBef>
                <a:spcPts val="100"/>
              </a:spcBef>
              <a:spcAft>
                <a:spcPts val="100"/>
              </a:spcAft>
            </a:pPr>
            <a:r>
              <a:rPr lang="vi-VN"/>
              <a:t>👉 </a:t>
            </a:r>
            <a:r>
              <a:rPr lang="vi-VN" altLang="vi-VN">
                <a:latin typeface="+mj-lt"/>
              </a:rPr>
              <a:t>Ý nghĩa trong hệ thống</a:t>
            </a:r>
          </a:p>
          <a:p>
            <a:pPr marL="360363" marR="0" lvl="0" algn="just" defTabSz="914400" rtl="0" eaLnBrk="0" fontAlgn="base" latinLnBrk="0" hangingPunct="0">
              <a:lnSpc>
                <a:spcPct val="100000"/>
              </a:lnSpc>
              <a:spcBef>
                <a:spcPts val="100"/>
              </a:spcBef>
              <a:spcAft>
                <a:spcPts val="100"/>
              </a:spcAft>
              <a:buClrTx/>
              <a:buSzTx/>
              <a:tabLst/>
            </a:pPr>
            <a:r>
              <a:rPr lang="vi-VN" altLang="vi-VN">
                <a:latin typeface="+mj-lt"/>
              </a:rPr>
              <a:t>+ Cung cấp thông tin nội bộ</a:t>
            </a:r>
          </a:p>
          <a:p>
            <a:pPr marL="360363" marR="0" lvl="0" algn="just" defTabSz="914400" rtl="0" eaLnBrk="0" fontAlgn="base" latinLnBrk="0" hangingPunct="0">
              <a:lnSpc>
                <a:spcPct val="100000"/>
              </a:lnSpc>
              <a:spcBef>
                <a:spcPts val="100"/>
              </a:spcBef>
              <a:spcAft>
                <a:spcPts val="100"/>
              </a:spcAft>
              <a:buClrTx/>
              <a:buSzTx/>
              <a:tabLst/>
            </a:pPr>
            <a:r>
              <a:rPr lang="vi-VN" altLang="vi-VN">
                <a:latin typeface="+mj-lt"/>
              </a:rPr>
              <a:t>+ Mô phỏng mô hình Web Server doanh nghiệp</a:t>
            </a:r>
          </a:p>
          <a:p>
            <a:pPr marL="360363" marR="0" lvl="0" algn="just" defTabSz="914400" rtl="0" eaLnBrk="0" fontAlgn="base" latinLnBrk="0" hangingPunct="0">
              <a:lnSpc>
                <a:spcPct val="100000"/>
              </a:lnSpc>
              <a:spcBef>
                <a:spcPts val="100"/>
              </a:spcBef>
              <a:spcAft>
                <a:spcPts val="100"/>
              </a:spcAft>
              <a:buClrTx/>
              <a:buSzTx/>
              <a:tabLst/>
            </a:pPr>
            <a:r>
              <a:rPr lang="vi-VN" altLang="vi-VN">
                <a:latin typeface="+mj-lt"/>
              </a:rPr>
              <a:t>+ Thể hiện phân vùng mạng và kiểm soát truy cập dịch vụ</a:t>
            </a:r>
          </a:p>
          <a:p>
            <a:pPr marL="0" marR="0" lvl="0" indent="0" algn="just" defTabSz="914400" rtl="0" eaLnBrk="0" fontAlgn="base" latinLnBrk="0" hangingPunct="0">
              <a:lnSpc>
                <a:spcPct val="100000"/>
              </a:lnSpc>
              <a:spcBef>
                <a:spcPts val="100"/>
              </a:spcBef>
              <a:spcAft>
                <a:spcPts val="100"/>
              </a:spcAft>
              <a:buClrTx/>
              <a:buSzTx/>
              <a:buFontTx/>
              <a:buNone/>
              <a:tabLst/>
            </a:pPr>
            <a:endParaRPr lang="vi-VN" altLang="vi-VN">
              <a:latin typeface="+mj-lt"/>
            </a:endParaRPr>
          </a:p>
        </p:txBody>
      </p:sp>
      <p:pic>
        <p:nvPicPr>
          <p:cNvPr id="4" name="Picture 3">
            <a:extLst>
              <a:ext uri="{FF2B5EF4-FFF2-40B4-BE49-F238E27FC236}">
                <a16:creationId xmlns:a16="http://schemas.microsoft.com/office/drawing/2014/main" id="{1F0EEF17-C4BC-407A-BD58-24F92056BBD4}"/>
              </a:ext>
            </a:extLst>
          </p:cNvPr>
          <p:cNvPicPr>
            <a:picLocks noChangeAspect="1"/>
          </p:cNvPicPr>
          <p:nvPr/>
        </p:nvPicPr>
        <p:blipFill>
          <a:blip r:embed="rId2"/>
          <a:stretch>
            <a:fillRect/>
          </a:stretch>
        </p:blipFill>
        <p:spPr>
          <a:xfrm>
            <a:off x="8857319" y="741880"/>
            <a:ext cx="2995574" cy="3008095"/>
          </a:xfrm>
          <a:prstGeom prst="rect">
            <a:avLst/>
          </a:prstGeom>
        </p:spPr>
      </p:pic>
      <p:pic>
        <p:nvPicPr>
          <p:cNvPr id="7" name="Picture 6">
            <a:extLst>
              <a:ext uri="{FF2B5EF4-FFF2-40B4-BE49-F238E27FC236}">
                <a16:creationId xmlns:a16="http://schemas.microsoft.com/office/drawing/2014/main" id="{8DC2EC27-D04E-4AFF-A27F-7A1A713C8531}"/>
              </a:ext>
            </a:extLst>
          </p:cNvPr>
          <p:cNvPicPr>
            <a:picLocks noChangeAspect="1"/>
          </p:cNvPicPr>
          <p:nvPr/>
        </p:nvPicPr>
        <p:blipFill>
          <a:blip r:embed="rId3"/>
          <a:stretch>
            <a:fillRect/>
          </a:stretch>
        </p:blipFill>
        <p:spPr>
          <a:xfrm>
            <a:off x="8860721" y="3749975"/>
            <a:ext cx="3024000" cy="2727944"/>
          </a:xfrm>
          <a:prstGeom prst="rect">
            <a:avLst/>
          </a:prstGeom>
        </p:spPr>
      </p:pic>
    </p:spTree>
    <p:extLst>
      <p:ext uri="{BB962C8B-B14F-4D97-AF65-F5344CB8AC3E}">
        <p14:creationId xmlns:p14="http://schemas.microsoft.com/office/powerpoint/2010/main" val="653427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2" name="Rectangle 1">
            <a:extLst>
              <a:ext uri="{FF2B5EF4-FFF2-40B4-BE49-F238E27FC236}">
                <a16:creationId xmlns:a16="http://schemas.microsoft.com/office/drawing/2014/main" id="{E3CB23E1-EF6B-43AA-835E-269AC738177E}"/>
              </a:ext>
            </a:extLst>
          </p:cNvPr>
          <p:cNvSpPr/>
          <p:nvPr/>
        </p:nvSpPr>
        <p:spPr>
          <a:xfrm>
            <a:off x="335705" y="760977"/>
            <a:ext cx="5760295" cy="584775"/>
          </a:xfrm>
          <a:prstGeom prst="rect">
            <a:avLst/>
          </a:prstGeom>
        </p:spPr>
        <p:txBody>
          <a:bodyPr wrap="none">
            <a:spAutoFit/>
          </a:bodyPr>
          <a:lstStyle/>
          <a:p>
            <a:r>
              <a:rPr lang="vi-VN" sz="3200" b="1">
                <a:latin typeface="+mj-lt"/>
              </a:rPr>
              <a:t>2.8. Cài đặt cấu hình trang Web</a:t>
            </a:r>
            <a:endParaRPr lang="vi-VN" sz="3200">
              <a:latin typeface="+mj-lt"/>
            </a:endParaRPr>
          </a:p>
        </p:txBody>
      </p:sp>
      <p:sp>
        <p:nvSpPr>
          <p:cNvPr id="6" name="Rectangle 5">
            <a:extLst>
              <a:ext uri="{FF2B5EF4-FFF2-40B4-BE49-F238E27FC236}">
                <a16:creationId xmlns:a16="http://schemas.microsoft.com/office/drawing/2014/main" id="{2DE23C6A-3B2F-4847-84E0-E5B3F08E9DA4}"/>
              </a:ext>
            </a:extLst>
          </p:cNvPr>
          <p:cNvSpPr/>
          <p:nvPr/>
        </p:nvSpPr>
        <p:spPr>
          <a:xfrm>
            <a:off x="133578" y="44540"/>
            <a:ext cx="6494085" cy="646331"/>
          </a:xfrm>
          <a:prstGeom prst="rect">
            <a:avLst/>
          </a:prstGeom>
        </p:spPr>
        <p:txBody>
          <a:bodyPr wrap="none">
            <a:spAutoFit/>
          </a:bodyPr>
          <a:lstStyle/>
          <a:p>
            <a:r>
              <a:rPr lang="vi-VN" sz="3600" b="1"/>
              <a:t>2. Phân Tích Hệ Thống Mạng</a:t>
            </a:r>
          </a:p>
        </p:txBody>
      </p:sp>
      <p:pic>
        <p:nvPicPr>
          <p:cNvPr id="7" name="Picture 6">
            <a:extLst>
              <a:ext uri="{FF2B5EF4-FFF2-40B4-BE49-F238E27FC236}">
                <a16:creationId xmlns:a16="http://schemas.microsoft.com/office/drawing/2014/main" id="{28FB6499-17B1-4481-BB19-8CB6567B83A8}"/>
              </a:ext>
            </a:extLst>
          </p:cNvPr>
          <p:cNvPicPr>
            <a:picLocks noChangeAspect="1"/>
          </p:cNvPicPr>
          <p:nvPr/>
        </p:nvPicPr>
        <p:blipFill>
          <a:blip r:embed="rId2"/>
          <a:stretch>
            <a:fillRect/>
          </a:stretch>
        </p:blipFill>
        <p:spPr>
          <a:xfrm>
            <a:off x="500472" y="1438990"/>
            <a:ext cx="5760295" cy="3776130"/>
          </a:xfrm>
          <a:prstGeom prst="rect">
            <a:avLst/>
          </a:prstGeom>
        </p:spPr>
      </p:pic>
      <p:pic>
        <p:nvPicPr>
          <p:cNvPr id="8" name="Picture 7">
            <a:extLst>
              <a:ext uri="{FF2B5EF4-FFF2-40B4-BE49-F238E27FC236}">
                <a16:creationId xmlns:a16="http://schemas.microsoft.com/office/drawing/2014/main" id="{FDBA0734-38D7-4B66-8713-9E1BC360D63F}"/>
              </a:ext>
            </a:extLst>
          </p:cNvPr>
          <p:cNvPicPr>
            <a:picLocks noChangeAspect="1"/>
          </p:cNvPicPr>
          <p:nvPr/>
        </p:nvPicPr>
        <p:blipFill>
          <a:blip r:embed="rId3"/>
          <a:stretch>
            <a:fillRect/>
          </a:stretch>
        </p:blipFill>
        <p:spPr>
          <a:xfrm>
            <a:off x="6781583" y="1345752"/>
            <a:ext cx="4789872" cy="3962606"/>
          </a:xfrm>
          <a:prstGeom prst="rect">
            <a:avLst/>
          </a:prstGeom>
        </p:spPr>
      </p:pic>
    </p:spTree>
    <p:extLst>
      <p:ext uri="{BB962C8B-B14F-4D97-AF65-F5344CB8AC3E}">
        <p14:creationId xmlns:p14="http://schemas.microsoft.com/office/powerpoint/2010/main" val="3899804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2" name="Rectangle 1">
            <a:extLst>
              <a:ext uri="{FF2B5EF4-FFF2-40B4-BE49-F238E27FC236}">
                <a16:creationId xmlns:a16="http://schemas.microsoft.com/office/drawing/2014/main" id="{E3CB23E1-EF6B-43AA-835E-269AC738177E}"/>
              </a:ext>
            </a:extLst>
          </p:cNvPr>
          <p:cNvSpPr/>
          <p:nvPr/>
        </p:nvSpPr>
        <p:spPr>
          <a:xfrm>
            <a:off x="335705" y="760977"/>
            <a:ext cx="8470589" cy="584775"/>
          </a:xfrm>
          <a:prstGeom prst="rect">
            <a:avLst/>
          </a:prstGeom>
        </p:spPr>
        <p:txBody>
          <a:bodyPr wrap="none">
            <a:spAutoFit/>
          </a:bodyPr>
          <a:lstStyle/>
          <a:p>
            <a:r>
              <a:rPr lang="vi-VN" sz="3200" b="1">
                <a:latin typeface="+mj-lt"/>
              </a:rPr>
              <a:t>2.9. Ưu điểm và nhược điểm của mô hình mạng</a:t>
            </a:r>
            <a:endParaRPr lang="vi-VN" sz="3200">
              <a:latin typeface="+mj-lt"/>
            </a:endParaRPr>
          </a:p>
        </p:txBody>
      </p:sp>
      <p:sp>
        <p:nvSpPr>
          <p:cNvPr id="6" name="Rectangle 5">
            <a:extLst>
              <a:ext uri="{FF2B5EF4-FFF2-40B4-BE49-F238E27FC236}">
                <a16:creationId xmlns:a16="http://schemas.microsoft.com/office/drawing/2014/main" id="{2DE23C6A-3B2F-4847-84E0-E5B3F08E9DA4}"/>
              </a:ext>
            </a:extLst>
          </p:cNvPr>
          <p:cNvSpPr/>
          <p:nvPr/>
        </p:nvSpPr>
        <p:spPr>
          <a:xfrm>
            <a:off x="133578" y="44540"/>
            <a:ext cx="6494085" cy="646331"/>
          </a:xfrm>
          <a:prstGeom prst="rect">
            <a:avLst/>
          </a:prstGeom>
        </p:spPr>
        <p:txBody>
          <a:bodyPr wrap="none">
            <a:spAutoFit/>
          </a:bodyPr>
          <a:lstStyle/>
          <a:p>
            <a:r>
              <a:rPr lang="vi-VN" sz="3600" b="1"/>
              <a:t>2. Phân Tích Hệ Thống Mạng</a:t>
            </a:r>
          </a:p>
        </p:txBody>
      </p:sp>
      <p:sp>
        <p:nvSpPr>
          <p:cNvPr id="3" name="Rectangle 2">
            <a:extLst>
              <a:ext uri="{FF2B5EF4-FFF2-40B4-BE49-F238E27FC236}">
                <a16:creationId xmlns:a16="http://schemas.microsoft.com/office/drawing/2014/main" id="{4DE72D2A-431D-46B3-BE83-F374142425B5}"/>
              </a:ext>
            </a:extLst>
          </p:cNvPr>
          <p:cNvSpPr/>
          <p:nvPr/>
        </p:nvSpPr>
        <p:spPr>
          <a:xfrm>
            <a:off x="258619" y="1459856"/>
            <a:ext cx="5837381" cy="4524315"/>
          </a:xfrm>
          <a:prstGeom prst="rect">
            <a:avLst/>
          </a:prstGeom>
        </p:spPr>
        <p:txBody>
          <a:bodyPr wrap="square">
            <a:spAutoFit/>
          </a:bodyPr>
          <a:lstStyle/>
          <a:p>
            <a:r>
              <a:rPr lang="vi-VN" b="1">
                <a:latin typeface="+mj-lt"/>
                <a:cs typeface="Segoe UI Emoji" panose="020B0502040204020203" pitchFamily="34" charset="0"/>
              </a:rPr>
              <a:t>✅</a:t>
            </a:r>
            <a:r>
              <a:rPr lang="vi-VN" b="1">
                <a:latin typeface="+mj-lt"/>
              </a:rPr>
              <a:t> Ưu điểm</a:t>
            </a:r>
          </a:p>
          <a:p>
            <a:pPr marL="342900" lvl="0" indent="-342900">
              <a:tabLst>
                <a:tab pos="457200" algn="l"/>
              </a:tabLst>
            </a:pPr>
            <a:r>
              <a:rPr lang="vi-VN">
                <a:latin typeface="+mj-lt"/>
                <a:ea typeface="Times New Roman" panose="02020603050405020304" pitchFamily="18" charset="0"/>
              </a:rPr>
              <a:t>- Phân tách mạng rõ ràng</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Mỗi phòng ban có subnet riêng → tăng bảo mật</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Dễ kiểm soát và quản lý lưu lượng</a:t>
            </a:r>
          </a:p>
          <a:p>
            <a:pPr marL="342900" lvl="0" indent="-342900">
              <a:tabLst>
                <a:tab pos="457200" algn="l"/>
              </a:tabLst>
            </a:pPr>
            <a:r>
              <a:rPr lang="vi-VN">
                <a:latin typeface="+mj-lt"/>
                <a:ea typeface="Times New Roman" panose="02020603050405020304" pitchFamily="18" charset="0"/>
              </a:rPr>
              <a:t>- Bảo mật tốt</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Firewall/ASA kiểm soát truy cập Internet</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Có thể triển khai ACL, DMZ cho Web Server</a:t>
            </a:r>
          </a:p>
          <a:p>
            <a:pPr marL="342900" lvl="0" indent="-342900">
              <a:tabLst>
                <a:tab pos="457200" algn="l"/>
              </a:tabLst>
            </a:pPr>
            <a:r>
              <a:rPr lang="vi-VN">
                <a:latin typeface="+mj-lt"/>
                <a:ea typeface="Times New Roman" panose="02020603050405020304" pitchFamily="18" charset="0"/>
              </a:rPr>
              <a:t>- Dễ mở rộng</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Có thể thêm phòng ban, thêm switch hoặc VLAN mới</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Không ảnh hưởng lớn đến hệ thống hiện tại</a:t>
            </a:r>
          </a:p>
          <a:p>
            <a:pPr marL="342900" lvl="0" indent="-342900">
              <a:tabLst>
                <a:tab pos="457200" algn="l"/>
              </a:tabLst>
            </a:pPr>
            <a:r>
              <a:rPr lang="vi-VN">
                <a:latin typeface="+mj-lt"/>
                <a:ea typeface="Times New Roman" panose="02020603050405020304" pitchFamily="18" charset="0"/>
              </a:rPr>
              <a:t>- Quản lý tập trung</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Tất cả lưu lượng đi qua thiết bị trung tâm</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Thuận tiện giám sát, xử lý sự cố</a:t>
            </a:r>
          </a:p>
          <a:p>
            <a:pPr marL="342900" lvl="0" indent="-342900">
              <a:tabLst>
                <a:tab pos="457200" algn="l"/>
              </a:tabLst>
            </a:pPr>
            <a:r>
              <a:rPr lang="vi-VN">
                <a:latin typeface="+mj-lt"/>
                <a:ea typeface="Times New Roman" panose="02020603050405020304" pitchFamily="18" charset="0"/>
              </a:rPr>
              <a:t>- Phù hợp thực tế</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Mô hình phổ biến trong trường học, doanh nghiệp nhỏ </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Dễ triển khai với thiết bị Cisco/Packet Tracer</a:t>
            </a:r>
            <a:endParaRPr lang="vi-VN">
              <a:effectLst/>
              <a:latin typeface="+mj-lt"/>
              <a:ea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A2512ED6-A054-4627-AFC4-CBFACA99D6F7}"/>
              </a:ext>
            </a:extLst>
          </p:cNvPr>
          <p:cNvSpPr/>
          <p:nvPr/>
        </p:nvSpPr>
        <p:spPr>
          <a:xfrm>
            <a:off x="6391563" y="1488076"/>
            <a:ext cx="5541818" cy="3693319"/>
          </a:xfrm>
          <a:prstGeom prst="rect">
            <a:avLst/>
          </a:prstGeom>
        </p:spPr>
        <p:txBody>
          <a:bodyPr wrap="square">
            <a:spAutoFit/>
          </a:bodyPr>
          <a:lstStyle/>
          <a:p>
            <a:r>
              <a:rPr lang="vi-VN" b="1">
                <a:latin typeface="+mj-lt"/>
                <a:cs typeface="Segoe UI Emoji" panose="020B0502040204020203" pitchFamily="34" charset="0"/>
              </a:rPr>
              <a:t>❌</a:t>
            </a:r>
            <a:r>
              <a:rPr lang="vi-VN" b="1">
                <a:latin typeface="+mj-lt"/>
              </a:rPr>
              <a:t> Nhược điểm</a:t>
            </a:r>
          </a:p>
          <a:p>
            <a:pPr marL="342900" lvl="0" indent="-342900">
              <a:tabLst>
                <a:tab pos="457200" algn="l"/>
              </a:tabLst>
            </a:pPr>
            <a:r>
              <a:rPr lang="vi-VN">
                <a:latin typeface="+mj-lt"/>
                <a:ea typeface="Times New Roman" panose="02020603050405020304" pitchFamily="18" charset="0"/>
              </a:rPr>
              <a:t>- Điểm lỗi tập trung (Single Point of Failure)</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Nếu router/firewall trung tâm gặp sự cố → toàn mạng bị ảnh hưởng</a:t>
            </a:r>
          </a:p>
          <a:p>
            <a:pPr marL="342900" lvl="0" indent="-342900">
              <a:tabLst>
                <a:tab pos="457200" algn="l"/>
              </a:tabLst>
            </a:pPr>
            <a:r>
              <a:rPr lang="vi-VN">
                <a:latin typeface="+mj-lt"/>
                <a:ea typeface="Times New Roman" panose="02020603050405020304" pitchFamily="18" charset="0"/>
              </a:rPr>
              <a:t>- Chi phí đầu tư ban đầu</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Cần router, firewall, nhiều switch</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Tốn chi phí thiết bị và cấu hình</a:t>
            </a:r>
          </a:p>
          <a:p>
            <a:pPr marL="342900" lvl="0" indent="-342900">
              <a:tabLst>
                <a:tab pos="457200" algn="l"/>
              </a:tabLst>
            </a:pPr>
            <a:r>
              <a:rPr lang="vi-VN">
                <a:latin typeface="+mj-lt"/>
                <a:ea typeface="Times New Roman" panose="02020603050405020304" pitchFamily="18" charset="0"/>
              </a:rPr>
              <a:t>- Yêu cầu kiến thức quản trị</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Cần người quản trị hiểu rõ định tuyến, VLAN, ACL, NAT</a:t>
            </a:r>
          </a:p>
          <a:p>
            <a:pPr marL="342900" lvl="0" indent="-342900">
              <a:tabLst>
                <a:tab pos="457200" algn="l"/>
              </a:tabLst>
            </a:pPr>
            <a:r>
              <a:rPr lang="vi-VN">
                <a:latin typeface="+mj-lt"/>
                <a:ea typeface="Times New Roman" panose="02020603050405020304" pitchFamily="18" charset="0"/>
              </a:rPr>
              <a:t>- Chưa có dự phòng</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Chưa triển khai dự phòng đường truyền Internet</a:t>
            </a:r>
          </a:p>
          <a:p>
            <a:pPr lvl="1">
              <a:buSzPts val="1000"/>
              <a:tabLst>
                <a:tab pos="914400" algn="l"/>
              </a:tabLst>
            </a:pPr>
            <a:r>
              <a:rPr lang="vi-VN">
                <a:latin typeface="+mj-lt"/>
                <a:ea typeface="Times New Roman" panose="02020603050405020304" pitchFamily="18" charset="0"/>
                <a:cs typeface="Times New Roman" panose="02020603050405020304" pitchFamily="18" charset="0"/>
              </a:rPr>
              <a:t>+ Chưa có firewall/router backup</a:t>
            </a:r>
            <a:endParaRPr lang="vi-VN">
              <a:effectLst/>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5980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44872E-9373-4596-ABF2-4115793D56F5}"/>
              </a:ext>
            </a:extLst>
          </p:cNvPr>
          <p:cNvPicPr>
            <a:picLocks noChangeAspect="1"/>
          </p:cNvPicPr>
          <p:nvPr/>
        </p:nvPicPr>
        <p:blipFill>
          <a:blip r:embed="rId2"/>
          <a:stretch>
            <a:fillRect/>
          </a:stretch>
        </p:blipFill>
        <p:spPr>
          <a:xfrm>
            <a:off x="9373784" y="5164732"/>
            <a:ext cx="2005653" cy="777435"/>
          </a:xfrm>
          <a:prstGeom prst="rect">
            <a:avLst/>
          </a:prstGeom>
        </p:spPr>
      </p:pic>
      <p:pic>
        <p:nvPicPr>
          <p:cNvPr id="17" name="Picture 16">
            <a:extLst>
              <a:ext uri="{FF2B5EF4-FFF2-40B4-BE49-F238E27FC236}">
                <a16:creationId xmlns:a16="http://schemas.microsoft.com/office/drawing/2014/main" id="{6DC41991-3D03-4AA6-AF50-256388D0262D}"/>
              </a:ext>
            </a:extLst>
          </p:cNvPr>
          <p:cNvPicPr>
            <a:picLocks noChangeAspect="1"/>
          </p:cNvPicPr>
          <p:nvPr/>
        </p:nvPicPr>
        <p:blipFill>
          <a:blip r:embed="rId3"/>
          <a:stretch>
            <a:fillRect/>
          </a:stretch>
        </p:blipFill>
        <p:spPr>
          <a:xfrm>
            <a:off x="9345975" y="4123071"/>
            <a:ext cx="2005653" cy="993395"/>
          </a:xfrm>
          <a:prstGeom prst="rect">
            <a:avLst/>
          </a:prstGeom>
        </p:spPr>
      </p:pic>
      <p:pic>
        <p:nvPicPr>
          <p:cNvPr id="16" name="Picture 15">
            <a:extLst>
              <a:ext uri="{FF2B5EF4-FFF2-40B4-BE49-F238E27FC236}">
                <a16:creationId xmlns:a16="http://schemas.microsoft.com/office/drawing/2014/main" id="{2D085F2E-B10E-4423-AFEE-7D7C42C5F3C1}"/>
              </a:ext>
            </a:extLst>
          </p:cNvPr>
          <p:cNvPicPr>
            <a:picLocks noChangeAspect="1"/>
          </p:cNvPicPr>
          <p:nvPr/>
        </p:nvPicPr>
        <p:blipFill>
          <a:blip r:embed="rId4"/>
          <a:stretch>
            <a:fillRect/>
          </a:stretch>
        </p:blipFill>
        <p:spPr>
          <a:xfrm>
            <a:off x="9224967" y="2769484"/>
            <a:ext cx="2247671" cy="1498447"/>
          </a:xfrm>
          <a:prstGeom prst="rect">
            <a:avLst/>
          </a:prstGeom>
        </p:spPr>
      </p:pic>
      <p:pic>
        <p:nvPicPr>
          <p:cNvPr id="14" name="Picture 13">
            <a:extLst>
              <a:ext uri="{FF2B5EF4-FFF2-40B4-BE49-F238E27FC236}">
                <a16:creationId xmlns:a16="http://schemas.microsoft.com/office/drawing/2014/main" id="{0D0D0E7F-1C37-4B46-B9E8-387AB574DEF2}"/>
              </a:ext>
            </a:extLst>
          </p:cNvPr>
          <p:cNvPicPr>
            <a:picLocks noChangeAspect="1"/>
          </p:cNvPicPr>
          <p:nvPr/>
        </p:nvPicPr>
        <p:blipFill>
          <a:blip r:embed="rId5"/>
          <a:stretch>
            <a:fillRect/>
          </a:stretch>
        </p:blipFill>
        <p:spPr>
          <a:xfrm>
            <a:off x="9318170" y="2053440"/>
            <a:ext cx="2061267" cy="994561"/>
          </a:xfrm>
          <a:prstGeom prst="rect">
            <a:avLst/>
          </a:prstGeom>
        </p:spPr>
      </p:pic>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4" name="Rectangle 3">
            <a:extLst>
              <a:ext uri="{FF2B5EF4-FFF2-40B4-BE49-F238E27FC236}">
                <a16:creationId xmlns:a16="http://schemas.microsoft.com/office/drawing/2014/main" id="{946E30E9-0AB3-4A26-BE55-823755035519}"/>
              </a:ext>
            </a:extLst>
          </p:cNvPr>
          <p:cNvSpPr/>
          <p:nvPr/>
        </p:nvSpPr>
        <p:spPr>
          <a:xfrm>
            <a:off x="133578" y="44540"/>
            <a:ext cx="8846011" cy="646331"/>
          </a:xfrm>
          <a:prstGeom prst="rect">
            <a:avLst/>
          </a:prstGeom>
        </p:spPr>
        <p:txBody>
          <a:bodyPr wrap="none">
            <a:spAutoFit/>
          </a:bodyPr>
          <a:lstStyle/>
          <a:p>
            <a:r>
              <a:rPr lang="vi-VN" sz="3600" b="1">
                <a:latin typeface="+mj-lt"/>
              </a:rPr>
              <a:t>3. THIẾT KẾ &amp; TRIỂN KHAI KỸ THUẬT</a:t>
            </a:r>
          </a:p>
        </p:txBody>
      </p:sp>
      <p:sp>
        <p:nvSpPr>
          <p:cNvPr id="2" name="Rectangle 1">
            <a:extLst>
              <a:ext uri="{FF2B5EF4-FFF2-40B4-BE49-F238E27FC236}">
                <a16:creationId xmlns:a16="http://schemas.microsoft.com/office/drawing/2014/main" id="{50E252BA-3B69-4EEA-AC2C-9CDDC1C7CFBF}"/>
              </a:ext>
            </a:extLst>
          </p:cNvPr>
          <p:cNvSpPr/>
          <p:nvPr/>
        </p:nvSpPr>
        <p:spPr>
          <a:xfrm>
            <a:off x="469571" y="838591"/>
            <a:ext cx="4402167" cy="523220"/>
          </a:xfrm>
          <a:prstGeom prst="rect">
            <a:avLst/>
          </a:prstGeom>
        </p:spPr>
        <p:txBody>
          <a:bodyPr wrap="none">
            <a:spAutoFit/>
          </a:bodyPr>
          <a:lstStyle/>
          <a:p>
            <a:r>
              <a:rPr lang="vi-VN" sz="2800" b="1">
                <a:latin typeface="+mj-lt"/>
              </a:rPr>
              <a:t>3.1. Lựa chọn thiết bị mạng</a:t>
            </a:r>
          </a:p>
        </p:txBody>
      </p:sp>
      <p:graphicFrame>
        <p:nvGraphicFramePr>
          <p:cNvPr id="13" name="Table 12">
            <a:extLst>
              <a:ext uri="{FF2B5EF4-FFF2-40B4-BE49-F238E27FC236}">
                <a16:creationId xmlns:a16="http://schemas.microsoft.com/office/drawing/2014/main" id="{008A04A7-2380-4929-872A-9C1148907151}"/>
              </a:ext>
            </a:extLst>
          </p:cNvPr>
          <p:cNvGraphicFramePr>
            <a:graphicFrameLocks noGrp="1"/>
          </p:cNvGraphicFramePr>
          <p:nvPr>
            <p:extLst>
              <p:ext uri="{D42A27DB-BD31-4B8C-83A1-F6EECF244321}">
                <p14:modId xmlns:p14="http://schemas.microsoft.com/office/powerpoint/2010/main" val="2801637165"/>
              </p:ext>
            </p:extLst>
          </p:nvPr>
        </p:nvGraphicFramePr>
        <p:xfrm>
          <a:off x="405297" y="1483965"/>
          <a:ext cx="11381406" cy="5857045"/>
        </p:xfrm>
        <a:graphic>
          <a:graphicData uri="http://schemas.openxmlformats.org/drawingml/2006/table">
            <a:tbl>
              <a:tblPr firstRow="1" bandRow="1">
                <a:tableStyleId>{5940675A-B579-460E-94D1-54222C63F5DA}</a:tableStyleId>
              </a:tblPr>
              <a:tblGrid>
                <a:gridCol w="1662532">
                  <a:extLst>
                    <a:ext uri="{9D8B030D-6E8A-4147-A177-3AD203B41FA5}">
                      <a16:colId xmlns:a16="http://schemas.microsoft.com/office/drawing/2014/main" val="1952279039"/>
                    </a:ext>
                  </a:extLst>
                </a:gridCol>
                <a:gridCol w="2547777">
                  <a:extLst>
                    <a:ext uri="{9D8B030D-6E8A-4147-A177-3AD203B41FA5}">
                      <a16:colId xmlns:a16="http://schemas.microsoft.com/office/drawing/2014/main" val="4114322187"/>
                    </a:ext>
                  </a:extLst>
                </a:gridCol>
                <a:gridCol w="1576167">
                  <a:extLst>
                    <a:ext uri="{9D8B030D-6E8A-4147-A177-3AD203B41FA5}">
                      <a16:colId xmlns:a16="http://schemas.microsoft.com/office/drawing/2014/main" val="297443262"/>
                    </a:ext>
                  </a:extLst>
                </a:gridCol>
                <a:gridCol w="116840">
                  <a:extLst>
                    <a:ext uri="{9D8B030D-6E8A-4147-A177-3AD203B41FA5}">
                      <a16:colId xmlns:a16="http://schemas.microsoft.com/office/drawing/2014/main" val="2718946173"/>
                    </a:ext>
                  </a:extLst>
                </a:gridCol>
                <a:gridCol w="2774259">
                  <a:extLst>
                    <a:ext uri="{9D8B030D-6E8A-4147-A177-3AD203B41FA5}">
                      <a16:colId xmlns:a16="http://schemas.microsoft.com/office/drawing/2014/main" val="2000478070"/>
                    </a:ext>
                  </a:extLst>
                </a:gridCol>
                <a:gridCol w="2703831">
                  <a:extLst>
                    <a:ext uri="{9D8B030D-6E8A-4147-A177-3AD203B41FA5}">
                      <a16:colId xmlns:a16="http://schemas.microsoft.com/office/drawing/2014/main" val="1215242661"/>
                    </a:ext>
                  </a:extLst>
                </a:gridCol>
              </a:tblGrid>
              <a:tr h="459601">
                <a:tc>
                  <a:txBody>
                    <a:bodyPr/>
                    <a:lstStyle/>
                    <a:p>
                      <a:pPr algn="ctr">
                        <a:lnSpc>
                          <a:spcPct val="100000"/>
                        </a:lnSpc>
                      </a:pPr>
                      <a:r>
                        <a:rPr lang="vi-VN" sz="2000" b="1">
                          <a:latin typeface="+mj-lt"/>
                        </a:rPr>
                        <a:t>Thiết bị</a:t>
                      </a:r>
                    </a:p>
                  </a:txBody>
                  <a:tcPr/>
                </a:tc>
                <a:tc>
                  <a:txBody>
                    <a:bodyPr/>
                    <a:lstStyle/>
                    <a:p>
                      <a:pPr algn="ctr">
                        <a:lnSpc>
                          <a:spcPct val="100000"/>
                        </a:lnSpc>
                      </a:pPr>
                      <a:r>
                        <a:rPr lang="vi-VN" sz="2000" b="1">
                          <a:latin typeface="+mj-lt"/>
                        </a:rPr>
                        <a:t>Mã</a:t>
                      </a:r>
                    </a:p>
                  </a:txBody>
                  <a:tcPr/>
                </a:tc>
                <a:tc>
                  <a:txBody>
                    <a:bodyPr/>
                    <a:lstStyle/>
                    <a:p>
                      <a:pPr algn="ctr">
                        <a:lnSpc>
                          <a:spcPct val="100000"/>
                        </a:lnSpc>
                      </a:pPr>
                      <a:r>
                        <a:rPr lang="vi-VN" sz="2000" b="1">
                          <a:latin typeface="+mj-lt"/>
                        </a:rPr>
                        <a:t>Đơn Giá</a:t>
                      </a:r>
                    </a:p>
                  </a:txBody>
                  <a:tcPr/>
                </a:tc>
                <a:tc gridSpan="2">
                  <a:txBody>
                    <a:bodyPr/>
                    <a:lstStyle/>
                    <a:p>
                      <a:pPr algn="ctr">
                        <a:lnSpc>
                          <a:spcPct val="100000"/>
                        </a:lnSpc>
                      </a:pPr>
                      <a:r>
                        <a:rPr lang="vi-VN" sz="2000" b="1">
                          <a:latin typeface="+mj-lt"/>
                        </a:rPr>
                        <a:t>Thông Số</a:t>
                      </a:r>
                    </a:p>
                  </a:txBody>
                  <a:tcPr/>
                </a:tc>
                <a:tc hMerge="1">
                  <a:txBody>
                    <a:bodyPr/>
                    <a:lstStyle/>
                    <a:p>
                      <a:endParaRPr lang="vi-VN"/>
                    </a:p>
                  </a:txBody>
                  <a:tcPr/>
                </a:tc>
                <a:tc>
                  <a:txBody>
                    <a:bodyPr/>
                    <a:lstStyle/>
                    <a:p>
                      <a:pPr algn="ctr">
                        <a:lnSpc>
                          <a:spcPct val="100000"/>
                        </a:lnSpc>
                      </a:pPr>
                      <a:r>
                        <a:rPr lang="vi-VN" sz="2000" b="1">
                          <a:latin typeface="+mj-lt"/>
                        </a:rPr>
                        <a:t>Hình ảnh</a:t>
                      </a:r>
                    </a:p>
                  </a:txBody>
                  <a:tcPr/>
                </a:tc>
                <a:extLst>
                  <a:ext uri="{0D108BD9-81ED-4DB2-BD59-A6C34878D82A}">
                    <a16:rowId xmlns:a16="http://schemas.microsoft.com/office/drawing/2014/main" val="3840308726"/>
                  </a:ext>
                </a:extLst>
              </a:tr>
              <a:tr h="1170773">
                <a:tc>
                  <a:txBody>
                    <a:bodyPr/>
                    <a:lstStyle/>
                    <a:p>
                      <a:r>
                        <a:rPr lang="vi-VN">
                          <a:latin typeface="+mj-lt"/>
                        </a:rPr>
                        <a:t>Router</a:t>
                      </a:r>
                    </a:p>
                  </a:txBody>
                  <a:tcPr/>
                </a:tc>
                <a:tc>
                  <a:txBody>
                    <a:bodyPr/>
                    <a:lstStyle/>
                    <a:p>
                      <a:r>
                        <a:rPr lang="vi-VN">
                          <a:latin typeface="+mj-lt"/>
                        </a:rPr>
                        <a:t>Draytek Vigor 2920FV</a:t>
                      </a:r>
                    </a:p>
                  </a:txBody>
                  <a:tcPr/>
                </a:tc>
                <a:tc>
                  <a:txBody>
                    <a:bodyPr/>
                    <a:lstStyle/>
                    <a:p>
                      <a:r>
                        <a:rPr lang="vi-VN" sz="1800" kern="1200">
                          <a:solidFill>
                            <a:schemeClr val="tx1"/>
                          </a:solidFill>
                          <a:effectLst/>
                          <a:latin typeface="+mj-lt"/>
                          <a:ea typeface="+mn-ea"/>
                          <a:cs typeface="+mn-cs"/>
                        </a:rPr>
                        <a:t>3.250.000/1</a:t>
                      </a:r>
                      <a:endParaRPr lang="vi-VN">
                        <a:latin typeface="+mj-lt"/>
                      </a:endParaRPr>
                    </a:p>
                  </a:txBody>
                  <a:tcPr/>
                </a:tc>
                <a:tc gridSpan="2">
                  <a:txBody>
                    <a:bodyPr/>
                    <a:lstStyle/>
                    <a:p>
                      <a:r>
                        <a:rPr lang="vi-VN" sz="1800" kern="1200">
                          <a:solidFill>
                            <a:schemeClr val="tx1"/>
                          </a:solidFill>
                          <a:effectLst/>
                          <a:latin typeface="+mj-lt"/>
                          <a:ea typeface="+mn-ea"/>
                          <a:cs typeface="+mn-cs"/>
                        </a:rPr>
                        <a:t>SỐ CỔNG: 4 x 10/1000Based-Tx LAN Switch, RJ-45</a:t>
                      </a:r>
                      <a:endParaRPr lang="vi-VN">
                        <a:latin typeface="+mj-lt"/>
                      </a:endParaRPr>
                    </a:p>
                  </a:txBody>
                  <a:tcPr/>
                </a:tc>
                <a:tc hMerge="1">
                  <a:txBody>
                    <a:bodyPr/>
                    <a:lstStyle/>
                    <a:p>
                      <a:endParaRPr lang="vi-VN"/>
                    </a:p>
                  </a:txBody>
                  <a:tcPr/>
                </a:tc>
                <a:tc>
                  <a:txBody>
                    <a:bodyPr/>
                    <a:lstStyle/>
                    <a:p>
                      <a:endParaRPr lang="vi-VN">
                        <a:latin typeface="+mj-lt"/>
                      </a:endParaRPr>
                    </a:p>
                  </a:txBody>
                  <a:tcPr/>
                </a:tc>
                <a:extLst>
                  <a:ext uri="{0D108BD9-81ED-4DB2-BD59-A6C34878D82A}">
                    <a16:rowId xmlns:a16="http://schemas.microsoft.com/office/drawing/2014/main" val="1047680324"/>
                  </a:ext>
                </a:extLst>
              </a:tr>
              <a:tr h="956918">
                <a:tc>
                  <a:txBody>
                    <a:bodyPr/>
                    <a:lstStyle/>
                    <a:p>
                      <a:r>
                        <a:rPr lang="vi-VN">
                          <a:latin typeface="+mj-lt"/>
                        </a:rPr>
                        <a:t>Switch</a:t>
                      </a:r>
                    </a:p>
                  </a:txBody>
                  <a:tcPr/>
                </a:tc>
                <a:tc>
                  <a:txBody>
                    <a:bodyPr/>
                    <a:lstStyle/>
                    <a:p>
                      <a:r>
                        <a:rPr lang="vi-VN" sz="1800" kern="1200">
                          <a:solidFill>
                            <a:schemeClr val="tx1"/>
                          </a:solidFill>
                          <a:effectLst/>
                          <a:latin typeface="+mj-lt"/>
                          <a:ea typeface="+mn-ea"/>
                          <a:cs typeface="+mn-cs"/>
                        </a:rPr>
                        <a:t>SWICTH TL-SG1024D</a:t>
                      </a:r>
                      <a:endParaRPr lang="vi-VN">
                        <a:latin typeface="+mj-lt"/>
                      </a:endParaRPr>
                    </a:p>
                  </a:txBody>
                  <a:tcPr/>
                </a:tc>
                <a:tc>
                  <a:txBody>
                    <a:bodyPr/>
                    <a:lstStyle/>
                    <a:p>
                      <a:r>
                        <a:rPr lang="vi-VN" sz="1800" kern="1200">
                          <a:solidFill>
                            <a:schemeClr val="tx1"/>
                          </a:solidFill>
                          <a:effectLst/>
                          <a:latin typeface="+mj-lt"/>
                          <a:ea typeface="+mn-ea"/>
                          <a:cs typeface="+mn-cs"/>
                        </a:rPr>
                        <a:t>1.750.000/1</a:t>
                      </a:r>
                      <a:endParaRPr lang="vi-VN">
                        <a:latin typeface="+mj-lt"/>
                      </a:endParaRPr>
                    </a:p>
                  </a:txBody>
                  <a:tcPr/>
                </a:tc>
                <a:tc gridSpan="2">
                  <a:txBody>
                    <a:bodyPr/>
                    <a:lstStyle/>
                    <a:p>
                      <a:r>
                        <a:rPr lang="vi-VN" sz="1800" kern="1200">
                          <a:solidFill>
                            <a:schemeClr val="tx1"/>
                          </a:solidFill>
                          <a:effectLst/>
                          <a:latin typeface="+mj-lt"/>
                          <a:ea typeface="+mn-ea"/>
                          <a:cs typeface="+mn-cs"/>
                        </a:rPr>
                        <a:t>24 cổng 10/100/1000 Mbps</a:t>
                      </a:r>
                      <a:endParaRPr lang="vi-VN">
                        <a:latin typeface="+mj-lt"/>
                      </a:endParaRPr>
                    </a:p>
                  </a:txBody>
                  <a:tcPr/>
                </a:tc>
                <a:tc hMerge="1">
                  <a:txBody>
                    <a:bodyPr/>
                    <a:lstStyle/>
                    <a:p>
                      <a:endParaRPr lang="vi-VN"/>
                    </a:p>
                  </a:txBody>
                  <a:tcPr/>
                </a:tc>
                <a:tc>
                  <a:txBody>
                    <a:bodyPr/>
                    <a:lstStyle/>
                    <a:p>
                      <a:endParaRPr lang="vi-VN">
                        <a:latin typeface="+mj-lt"/>
                      </a:endParaRPr>
                    </a:p>
                  </a:txBody>
                  <a:tcPr/>
                </a:tc>
                <a:extLst>
                  <a:ext uri="{0D108BD9-81ED-4DB2-BD59-A6C34878D82A}">
                    <a16:rowId xmlns:a16="http://schemas.microsoft.com/office/drawing/2014/main" val="671093688"/>
                  </a:ext>
                </a:extLst>
              </a:tr>
              <a:tr h="1031466">
                <a:tc>
                  <a:txBody>
                    <a:bodyPr/>
                    <a:lstStyle/>
                    <a:p>
                      <a:r>
                        <a:rPr lang="vi-VN">
                          <a:latin typeface="+mj-lt"/>
                        </a:rPr>
                        <a:t>Access Point</a:t>
                      </a:r>
                    </a:p>
                  </a:txBody>
                  <a:tcPr/>
                </a:tc>
                <a:tc>
                  <a:txBody>
                    <a:bodyPr/>
                    <a:lstStyle/>
                    <a:p>
                      <a:r>
                        <a:rPr lang="vi-VN" sz="1800" kern="1200">
                          <a:solidFill>
                            <a:schemeClr val="tx1"/>
                          </a:solidFill>
                          <a:effectLst/>
                          <a:latin typeface="+mj-lt"/>
                          <a:ea typeface="+mn-ea"/>
                          <a:cs typeface="+mn-cs"/>
                        </a:rPr>
                        <a:t>AP  TP-Link EAP225</a:t>
                      </a:r>
                      <a:endParaRPr lang="vi-VN">
                        <a:latin typeface="+mj-lt"/>
                      </a:endParaRPr>
                    </a:p>
                  </a:txBody>
                  <a:tcPr/>
                </a:tc>
                <a:tc>
                  <a:txBody>
                    <a:bodyPr/>
                    <a:lstStyle/>
                    <a:p>
                      <a:r>
                        <a:rPr lang="vi-VN" sz="1800" kern="1200">
                          <a:solidFill>
                            <a:schemeClr val="tx1"/>
                          </a:solidFill>
                          <a:effectLst/>
                          <a:latin typeface="+mj-lt"/>
                          <a:ea typeface="+mn-ea"/>
                          <a:cs typeface="+mn-cs"/>
                        </a:rPr>
                        <a:t>1.500.000/1</a:t>
                      </a:r>
                      <a:endParaRPr lang="vi-VN">
                        <a:latin typeface="+mj-lt"/>
                      </a:endParaRPr>
                    </a:p>
                  </a:txBody>
                  <a:tcPr/>
                </a:tc>
                <a:tc gridSpan="2">
                  <a:txBody>
                    <a:bodyPr/>
                    <a:lstStyle/>
                    <a:p>
                      <a:r>
                        <a:rPr lang="vi-VN" sz="1800" kern="1200">
                          <a:solidFill>
                            <a:schemeClr val="tx1"/>
                          </a:solidFill>
                          <a:effectLst/>
                          <a:latin typeface="+mj-lt"/>
                          <a:ea typeface="+mn-ea"/>
                          <a:cs typeface="+mn-cs"/>
                        </a:rPr>
                        <a:t>300Mbps đồng thời trên băng tần 2.4GHz và 867Mbps trên 5GHz</a:t>
                      </a:r>
                      <a:endParaRPr lang="vi-VN">
                        <a:latin typeface="+mj-lt"/>
                      </a:endParaRPr>
                    </a:p>
                  </a:txBody>
                  <a:tcPr/>
                </a:tc>
                <a:tc hMerge="1">
                  <a:txBody>
                    <a:bodyPr/>
                    <a:lstStyle/>
                    <a:p>
                      <a:endParaRPr lang="vi-VN"/>
                    </a:p>
                  </a:txBody>
                  <a:tcPr/>
                </a:tc>
                <a:tc>
                  <a:txBody>
                    <a:bodyPr/>
                    <a:lstStyle/>
                    <a:p>
                      <a:endParaRPr lang="vi-VN">
                        <a:latin typeface="+mj-lt"/>
                      </a:endParaRPr>
                    </a:p>
                  </a:txBody>
                  <a:tcPr/>
                </a:tc>
                <a:extLst>
                  <a:ext uri="{0D108BD9-81ED-4DB2-BD59-A6C34878D82A}">
                    <a16:rowId xmlns:a16="http://schemas.microsoft.com/office/drawing/2014/main" val="3547974122"/>
                  </a:ext>
                </a:extLst>
              </a:tr>
              <a:tr h="8772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latin typeface="+mj-lt"/>
                        </a:rPr>
                        <a:t>Cáp mạng</a:t>
                      </a:r>
                    </a:p>
                    <a:p>
                      <a:endParaRPr lang="vi-VN">
                        <a:latin typeface="+mj-lt"/>
                      </a:endParaRPr>
                    </a:p>
                  </a:txBody>
                  <a:tcPr>
                    <a:lnB w="12700" cap="flat" cmpd="sng" algn="ctr">
                      <a:solidFill>
                        <a:schemeClr val="tx1"/>
                      </a:solidFill>
                      <a:prstDash val="solid"/>
                      <a:round/>
                      <a:headEnd type="none" w="med" len="med"/>
                      <a:tailEnd type="none" w="med" len="med"/>
                    </a:lnB>
                  </a:tcPr>
                </a:tc>
                <a:tc>
                  <a:txBody>
                    <a:bodyPr/>
                    <a:lstStyle/>
                    <a:p>
                      <a:endParaRPr lang="vi-VN">
                        <a:latin typeface="+mj-lt"/>
                      </a:endParaRP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200">
                          <a:solidFill>
                            <a:schemeClr val="tx1"/>
                          </a:solidFill>
                          <a:effectLst/>
                          <a:latin typeface="+mj-lt"/>
                          <a:ea typeface="+mn-ea"/>
                          <a:cs typeface="+mn-cs"/>
                        </a:rPr>
                        <a:t>1.270.000/1</a:t>
                      </a:r>
                      <a:endParaRPr lang="vi-VN">
                        <a:latin typeface="+mj-lt"/>
                      </a:endParaRPr>
                    </a:p>
                    <a:p>
                      <a:endParaRPr lang="vi-VN">
                        <a:latin typeface="+mj-lt"/>
                      </a:endParaRPr>
                    </a:p>
                  </a:txBody>
                  <a:tcPr>
                    <a:lnB w="12700" cap="flat" cmpd="sng" algn="ctr">
                      <a:solidFill>
                        <a:schemeClr val="tx1"/>
                      </a:solidFill>
                      <a:prstDash val="solid"/>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200">
                          <a:solidFill>
                            <a:schemeClr val="tx1"/>
                          </a:solidFill>
                          <a:effectLst/>
                          <a:latin typeface="+mj-lt"/>
                          <a:ea typeface="+mn-ea"/>
                          <a:cs typeface="+mn-cs"/>
                        </a:rPr>
                        <a:t>Truyền dẫn Gigabit Ethenet</a:t>
                      </a:r>
                      <a:endParaRPr lang="vi-VN">
                        <a:latin typeface="+mj-lt"/>
                      </a:endParaRPr>
                    </a:p>
                  </a:txBody>
                  <a:tcPr>
                    <a:lnB w="12700" cap="flat" cmpd="sng" algn="ctr">
                      <a:solidFill>
                        <a:schemeClr val="tx1"/>
                      </a:solidFill>
                      <a:prstDash val="solid"/>
                      <a:round/>
                      <a:headEnd type="none" w="med" len="med"/>
                      <a:tailEnd type="none" w="med" len="med"/>
                    </a:lnB>
                  </a:tcPr>
                </a:tc>
                <a:tc hMerge="1">
                  <a:txBody>
                    <a:bodyPr/>
                    <a:lstStyle/>
                    <a:p>
                      <a:endParaRPr lang="vi-VN"/>
                    </a:p>
                  </a:txBody>
                  <a:tcPr/>
                </a:tc>
                <a:tc>
                  <a:txBody>
                    <a:bodyPr/>
                    <a:lstStyle/>
                    <a:p>
                      <a:endParaRPr lang="vi-VN">
                        <a:latin typeface="+mj-lt"/>
                      </a:endParaRP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40438"/>
                  </a:ext>
                </a:extLst>
              </a:tr>
              <a:tr h="5166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latin typeface="+mj-lt"/>
                        </a:rPr>
                        <a:t>Tủ rack</a:t>
                      </a:r>
                    </a:p>
                    <a:p>
                      <a:endParaRPr lang="vi-VN">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200">
                          <a:solidFill>
                            <a:schemeClr val="tx1"/>
                          </a:solidFill>
                          <a:effectLst/>
                          <a:latin typeface="+mj-lt"/>
                          <a:ea typeface="+mn-ea"/>
                          <a:cs typeface="+mn-cs"/>
                        </a:rPr>
                        <a:t>HẠT MẠNG RJ45</a:t>
                      </a:r>
                      <a:endParaRPr lang="vi-VN">
                        <a:latin typeface="+mj-lt"/>
                      </a:endParaRPr>
                    </a:p>
                    <a:p>
                      <a:endParaRPr lang="vi-VN">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200">
                          <a:solidFill>
                            <a:schemeClr val="tx1"/>
                          </a:solidFill>
                          <a:effectLst/>
                          <a:latin typeface="+mj-lt"/>
                          <a:ea typeface="+mn-ea"/>
                          <a:cs typeface="+mn-cs"/>
                        </a:rPr>
                        <a:t>500/1</a:t>
                      </a:r>
                      <a:endParaRPr lang="vi-VN">
                        <a:latin typeface="+mj-lt"/>
                      </a:endParaRPr>
                    </a:p>
                    <a:p>
                      <a:endParaRPr lang="vi-VN">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vi-VN">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vi-VN"/>
                    </a:p>
                  </a:txBody>
                  <a:tcPr/>
                </a:tc>
                <a:tc>
                  <a:txBody>
                    <a:bodyPr/>
                    <a:lstStyle/>
                    <a:p>
                      <a:endParaRPr lang="vi-VN">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0033130"/>
                  </a:ext>
                </a:extLst>
              </a:tr>
              <a:tr h="720959">
                <a:tc gridSpan="4">
                  <a:txBody>
                    <a:bodyPr/>
                    <a:lstStyle/>
                    <a:p>
                      <a:endParaRPr lang="vi-VN"/>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vi-VN"/>
                    </a:p>
                  </a:txBody>
                  <a:tcPr/>
                </a:tc>
                <a:tc hMerge="1">
                  <a:txBody>
                    <a:bodyPr/>
                    <a:lstStyle/>
                    <a:p>
                      <a:endParaRPr lang="vi-VN"/>
                    </a:p>
                  </a:txBody>
                  <a:tcPr/>
                </a:tc>
                <a:tc hMerge="1">
                  <a:txBody>
                    <a:bodyPr/>
                    <a:lstStyle/>
                    <a:p>
                      <a:endParaRPr lang="vi-VN"/>
                    </a:p>
                  </a:txBody>
                  <a:tcPr/>
                </a:tc>
                <a:tc gridSpan="2">
                  <a:txBody>
                    <a:bodyPr/>
                    <a:lstStyle/>
                    <a:p>
                      <a:endParaRPr lang="vi-VN"/>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vi-VN"/>
                    </a:p>
                  </a:txBody>
                  <a:tcPr/>
                </a:tc>
                <a:extLst>
                  <a:ext uri="{0D108BD9-81ED-4DB2-BD59-A6C34878D82A}">
                    <a16:rowId xmlns:a16="http://schemas.microsoft.com/office/drawing/2014/main" val="2345349486"/>
                  </a:ext>
                </a:extLst>
              </a:tr>
            </a:tbl>
          </a:graphicData>
        </a:graphic>
      </p:graphicFrame>
      <p:pic>
        <p:nvPicPr>
          <p:cNvPr id="19" name="Picture 18">
            <a:extLst>
              <a:ext uri="{FF2B5EF4-FFF2-40B4-BE49-F238E27FC236}">
                <a16:creationId xmlns:a16="http://schemas.microsoft.com/office/drawing/2014/main" id="{AADDB2CA-B667-4A0B-B5AA-2F5CF4EBD2AC}"/>
              </a:ext>
            </a:extLst>
          </p:cNvPr>
          <p:cNvPicPr>
            <a:picLocks noChangeAspect="1"/>
          </p:cNvPicPr>
          <p:nvPr/>
        </p:nvPicPr>
        <p:blipFill>
          <a:blip r:embed="rId6"/>
          <a:stretch>
            <a:fillRect/>
          </a:stretch>
        </p:blipFill>
        <p:spPr>
          <a:xfrm>
            <a:off x="9860615" y="6048342"/>
            <a:ext cx="1031990" cy="518159"/>
          </a:xfrm>
          <a:prstGeom prst="rect">
            <a:avLst/>
          </a:prstGeom>
        </p:spPr>
      </p:pic>
    </p:spTree>
    <p:extLst>
      <p:ext uri="{BB962C8B-B14F-4D97-AF65-F5344CB8AC3E}">
        <p14:creationId xmlns:p14="http://schemas.microsoft.com/office/powerpoint/2010/main" val="3508522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4" name="Rectangle 3">
            <a:extLst>
              <a:ext uri="{FF2B5EF4-FFF2-40B4-BE49-F238E27FC236}">
                <a16:creationId xmlns:a16="http://schemas.microsoft.com/office/drawing/2014/main" id="{27DCE04F-2782-4646-AA70-87A94102E7C7}"/>
              </a:ext>
            </a:extLst>
          </p:cNvPr>
          <p:cNvSpPr/>
          <p:nvPr/>
        </p:nvSpPr>
        <p:spPr>
          <a:xfrm>
            <a:off x="479096" y="772825"/>
            <a:ext cx="4402167" cy="523220"/>
          </a:xfrm>
          <a:prstGeom prst="rect">
            <a:avLst/>
          </a:prstGeom>
        </p:spPr>
        <p:txBody>
          <a:bodyPr wrap="none">
            <a:spAutoFit/>
          </a:bodyPr>
          <a:lstStyle/>
          <a:p>
            <a:r>
              <a:rPr lang="vi-VN" sz="2800" b="1">
                <a:latin typeface="+mj-lt"/>
              </a:rPr>
              <a:t>3.1. Lựa chọn thiết bị mạng</a:t>
            </a:r>
          </a:p>
        </p:txBody>
      </p:sp>
      <p:sp>
        <p:nvSpPr>
          <p:cNvPr id="6" name="Rectangle 5">
            <a:extLst>
              <a:ext uri="{FF2B5EF4-FFF2-40B4-BE49-F238E27FC236}">
                <a16:creationId xmlns:a16="http://schemas.microsoft.com/office/drawing/2014/main" id="{F9358B6A-C454-4024-8FDE-7257CCB9AF9D}"/>
              </a:ext>
            </a:extLst>
          </p:cNvPr>
          <p:cNvSpPr/>
          <p:nvPr/>
        </p:nvSpPr>
        <p:spPr>
          <a:xfrm>
            <a:off x="133578" y="44540"/>
            <a:ext cx="8846011" cy="646331"/>
          </a:xfrm>
          <a:prstGeom prst="rect">
            <a:avLst/>
          </a:prstGeom>
        </p:spPr>
        <p:txBody>
          <a:bodyPr wrap="none">
            <a:spAutoFit/>
          </a:bodyPr>
          <a:lstStyle/>
          <a:p>
            <a:r>
              <a:rPr lang="vi-VN" sz="3600" b="1">
                <a:latin typeface="+mj-lt"/>
              </a:rPr>
              <a:t>3. THIẾT KẾ &amp; TRIỂN KHAI KỸ THUẬT</a:t>
            </a:r>
          </a:p>
        </p:txBody>
      </p:sp>
      <p:graphicFrame>
        <p:nvGraphicFramePr>
          <p:cNvPr id="3" name="Table 2">
            <a:extLst>
              <a:ext uri="{FF2B5EF4-FFF2-40B4-BE49-F238E27FC236}">
                <a16:creationId xmlns:a16="http://schemas.microsoft.com/office/drawing/2014/main" id="{2A3E8E79-7DF6-469F-9236-43D4B0D204BF}"/>
              </a:ext>
            </a:extLst>
          </p:cNvPr>
          <p:cNvGraphicFramePr>
            <a:graphicFrameLocks noGrp="1"/>
          </p:cNvGraphicFramePr>
          <p:nvPr>
            <p:extLst>
              <p:ext uri="{D42A27DB-BD31-4B8C-83A1-F6EECF244321}">
                <p14:modId xmlns:p14="http://schemas.microsoft.com/office/powerpoint/2010/main" val="1340318489"/>
              </p:ext>
            </p:extLst>
          </p:nvPr>
        </p:nvGraphicFramePr>
        <p:xfrm>
          <a:off x="290286" y="1361811"/>
          <a:ext cx="5892800" cy="5489205"/>
        </p:xfrm>
        <a:graphic>
          <a:graphicData uri="http://schemas.openxmlformats.org/drawingml/2006/table">
            <a:tbl>
              <a:tblPr firstRow="1" bandRow="1">
                <a:tableStyleId>{5940675A-B579-460E-94D1-54222C63F5DA}</a:tableStyleId>
              </a:tblPr>
              <a:tblGrid>
                <a:gridCol w="1052285">
                  <a:extLst>
                    <a:ext uri="{9D8B030D-6E8A-4147-A177-3AD203B41FA5}">
                      <a16:colId xmlns:a16="http://schemas.microsoft.com/office/drawing/2014/main" val="3786699644"/>
                    </a:ext>
                  </a:extLst>
                </a:gridCol>
                <a:gridCol w="4840515">
                  <a:extLst>
                    <a:ext uri="{9D8B030D-6E8A-4147-A177-3AD203B41FA5}">
                      <a16:colId xmlns:a16="http://schemas.microsoft.com/office/drawing/2014/main" val="732046296"/>
                    </a:ext>
                  </a:extLst>
                </a:gridCol>
              </a:tblGrid>
              <a:tr h="524175">
                <a:tc gridSpan="2">
                  <a:txBody>
                    <a:bodyPr/>
                    <a:lstStyle/>
                    <a:p>
                      <a:r>
                        <a:rPr lang="vi-VN" sz="2000" b="1" kern="1200">
                          <a:solidFill>
                            <a:schemeClr val="tx1"/>
                          </a:solidFill>
                          <a:effectLst/>
                          <a:latin typeface="+mj-lt"/>
                          <a:ea typeface="+mn-ea"/>
                          <a:cs typeface="+mn-cs"/>
                        </a:rPr>
                        <a:t>Server Chính</a:t>
                      </a:r>
                      <a:endParaRPr lang="vi-VN" sz="2000" b="1">
                        <a:latin typeface="+mj-lt"/>
                      </a:endParaRPr>
                    </a:p>
                  </a:txBody>
                  <a:tcPr/>
                </a:tc>
                <a:tc hMerge="1">
                  <a:txBody>
                    <a:bodyPr/>
                    <a:lstStyle/>
                    <a:p>
                      <a:endParaRPr lang="vi-VN" sz="1700">
                        <a:latin typeface="+mj-lt"/>
                      </a:endParaRPr>
                    </a:p>
                  </a:txBody>
                  <a:tcPr/>
                </a:tc>
                <a:extLst>
                  <a:ext uri="{0D108BD9-81ED-4DB2-BD59-A6C34878D82A}">
                    <a16:rowId xmlns:a16="http://schemas.microsoft.com/office/drawing/2014/main" val="1597553984"/>
                  </a:ext>
                </a:extLst>
              </a:tr>
              <a:tr h="860350">
                <a:tc>
                  <a:txBody>
                    <a:bodyPr/>
                    <a:lstStyle/>
                    <a:p>
                      <a:r>
                        <a:rPr lang="vi-VN" sz="1700" kern="1200">
                          <a:solidFill>
                            <a:schemeClr val="tx1"/>
                          </a:solidFill>
                          <a:effectLst/>
                          <a:latin typeface="+mj-lt"/>
                          <a:ea typeface="+mn-ea"/>
                          <a:cs typeface="+mn-cs"/>
                        </a:rPr>
                        <a:t>Main Board</a:t>
                      </a:r>
                      <a:endParaRPr lang="vi-VN" sz="1700">
                        <a:latin typeface="+mj-lt"/>
                      </a:endParaRPr>
                    </a:p>
                  </a:txBody>
                  <a:tcPr/>
                </a:tc>
                <a:tc>
                  <a:txBody>
                    <a:bodyPr/>
                    <a:lstStyle/>
                    <a:p>
                      <a:r>
                        <a:rPr lang="vi-VN" sz="1700" kern="1200">
                          <a:solidFill>
                            <a:schemeClr val="tx1"/>
                          </a:solidFill>
                          <a:effectLst/>
                          <a:latin typeface="+mj-lt"/>
                          <a:ea typeface="+mn-ea"/>
                          <a:cs typeface="+mn-cs"/>
                        </a:rPr>
                        <a:t>Intel® Server Board S1200-V3 / Sotket 1150/ 04 slot Ram Full 32 GB Ram | Main Server có 02 cổng Sata 3 tốc độ 6Gs </a:t>
                      </a:r>
                      <a:endParaRPr lang="vi-VN" sz="1700">
                        <a:latin typeface="+mj-lt"/>
                      </a:endParaRPr>
                    </a:p>
                  </a:txBody>
                  <a:tcPr/>
                </a:tc>
                <a:extLst>
                  <a:ext uri="{0D108BD9-81ED-4DB2-BD59-A6C34878D82A}">
                    <a16:rowId xmlns:a16="http://schemas.microsoft.com/office/drawing/2014/main" val="2839356271"/>
                  </a:ext>
                </a:extLst>
              </a:tr>
              <a:tr h="603755">
                <a:tc>
                  <a:txBody>
                    <a:bodyPr/>
                    <a:lstStyle/>
                    <a:p>
                      <a:r>
                        <a:rPr lang="vi-VN" sz="1700" kern="1200">
                          <a:solidFill>
                            <a:schemeClr val="tx1"/>
                          </a:solidFill>
                          <a:effectLst/>
                          <a:latin typeface="+mj-lt"/>
                          <a:ea typeface="+mn-ea"/>
                          <a:cs typeface="+mn-cs"/>
                        </a:rPr>
                        <a:t>CPU</a:t>
                      </a:r>
                      <a:endParaRPr lang="vi-VN" sz="1700">
                        <a:latin typeface="+mj-lt"/>
                      </a:endParaRPr>
                    </a:p>
                  </a:txBody>
                  <a:tcPr/>
                </a:tc>
                <a:tc>
                  <a:txBody>
                    <a:bodyPr/>
                    <a:lstStyle/>
                    <a:p>
                      <a:r>
                        <a:rPr lang="vi-VN" sz="1700" kern="1200">
                          <a:solidFill>
                            <a:schemeClr val="tx1"/>
                          </a:solidFill>
                          <a:effectLst/>
                          <a:latin typeface="+mj-lt"/>
                          <a:ea typeface="+mn-ea"/>
                          <a:cs typeface="+mn-cs"/>
                        </a:rPr>
                        <a:t>Intel® Processor G3250 ( 2M Cache, 3.0 GHz ) for server</a:t>
                      </a:r>
                      <a:endParaRPr lang="vi-VN" sz="1700">
                        <a:latin typeface="+mj-lt"/>
                      </a:endParaRPr>
                    </a:p>
                  </a:txBody>
                  <a:tcPr/>
                </a:tc>
                <a:extLst>
                  <a:ext uri="{0D108BD9-81ED-4DB2-BD59-A6C34878D82A}">
                    <a16:rowId xmlns:a16="http://schemas.microsoft.com/office/drawing/2014/main" val="1579225429"/>
                  </a:ext>
                </a:extLst>
              </a:tr>
              <a:tr h="603755">
                <a:tc>
                  <a:txBody>
                    <a:bodyPr/>
                    <a:lstStyle/>
                    <a:p>
                      <a:r>
                        <a:rPr lang="vi-VN" sz="1700" kern="1200">
                          <a:solidFill>
                            <a:schemeClr val="tx1"/>
                          </a:solidFill>
                          <a:effectLst/>
                          <a:latin typeface="+mj-lt"/>
                          <a:ea typeface="+mn-ea"/>
                          <a:cs typeface="+mn-cs"/>
                        </a:rPr>
                        <a:t>Ram Server</a:t>
                      </a:r>
                      <a:endParaRPr lang="vi-VN" sz="1700">
                        <a:latin typeface="+mj-lt"/>
                      </a:endParaRPr>
                    </a:p>
                  </a:txBody>
                  <a:tcPr/>
                </a:tc>
                <a:tc>
                  <a:txBody>
                    <a:bodyPr/>
                    <a:lstStyle/>
                    <a:p>
                      <a:r>
                        <a:rPr lang="vi-VN" sz="1700" kern="1200">
                          <a:solidFill>
                            <a:schemeClr val="tx1"/>
                          </a:solidFill>
                          <a:effectLst/>
                          <a:latin typeface="+mj-lt"/>
                          <a:ea typeface="+mn-ea"/>
                          <a:cs typeface="+mn-cs"/>
                        </a:rPr>
                        <a:t>ECC 8GB PC3 Bus 1600 ( 1 x 8Gb | 2 x 4Gb ) Memory for Server</a:t>
                      </a:r>
                      <a:endParaRPr lang="vi-VN" sz="1700">
                        <a:latin typeface="+mj-lt"/>
                      </a:endParaRPr>
                    </a:p>
                  </a:txBody>
                  <a:tcPr/>
                </a:tc>
                <a:extLst>
                  <a:ext uri="{0D108BD9-81ED-4DB2-BD59-A6C34878D82A}">
                    <a16:rowId xmlns:a16="http://schemas.microsoft.com/office/drawing/2014/main" val="1755505305"/>
                  </a:ext>
                </a:extLst>
              </a:tr>
              <a:tr h="524175">
                <a:tc>
                  <a:txBody>
                    <a:bodyPr/>
                    <a:lstStyle/>
                    <a:p>
                      <a:r>
                        <a:rPr lang="vi-VN" sz="1700" kern="1200">
                          <a:solidFill>
                            <a:schemeClr val="tx1"/>
                          </a:solidFill>
                          <a:effectLst/>
                          <a:latin typeface="+mj-lt"/>
                          <a:ea typeface="+mn-ea"/>
                          <a:cs typeface="+mn-cs"/>
                        </a:rPr>
                        <a:t>Card Lan</a:t>
                      </a:r>
                      <a:endParaRPr lang="vi-VN" sz="1700">
                        <a:latin typeface="+mj-lt"/>
                      </a:endParaRPr>
                    </a:p>
                  </a:txBody>
                  <a:tcPr/>
                </a:tc>
                <a:tc>
                  <a:txBody>
                    <a:bodyPr/>
                    <a:lstStyle/>
                    <a:p>
                      <a:r>
                        <a:rPr lang="vi-VN" sz="1700" kern="1200">
                          <a:solidFill>
                            <a:schemeClr val="tx1"/>
                          </a:solidFill>
                          <a:effectLst/>
                          <a:latin typeface="+mj-lt"/>
                          <a:ea typeface="+mn-ea"/>
                          <a:cs typeface="+mn-cs"/>
                        </a:rPr>
                        <a:t>lan onboard 1Gb ( 1000M )</a:t>
                      </a:r>
                      <a:endParaRPr lang="vi-VN" sz="1700">
                        <a:latin typeface="+mj-lt"/>
                      </a:endParaRPr>
                    </a:p>
                  </a:txBody>
                  <a:tcPr/>
                </a:tc>
                <a:extLst>
                  <a:ext uri="{0D108BD9-81ED-4DB2-BD59-A6C34878D82A}">
                    <a16:rowId xmlns:a16="http://schemas.microsoft.com/office/drawing/2014/main" val="1172298494"/>
                  </a:ext>
                </a:extLst>
              </a:tr>
              <a:tr h="603755">
                <a:tc>
                  <a:txBody>
                    <a:bodyPr/>
                    <a:lstStyle/>
                    <a:p>
                      <a:r>
                        <a:rPr lang="vi-VN" sz="1700" kern="1200">
                          <a:solidFill>
                            <a:schemeClr val="tx1"/>
                          </a:solidFill>
                          <a:effectLst/>
                          <a:latin typeface="+mj-lt"/>
                          <a:ea typeface="+mn-ea"/>
                          <a:cs typeface="+mn-cs"/>
                        </a:rPr>
                        <a:t>HDD</a:t>
                      </a:r>
                      <a:endParaRPr lang="vi-VN" sz="1700">
                        <a:latin typeface="+mj-lt"/>
                      </a:endParaRPr>
                    </a:p>
                  </a:txBody>
                  <a:tcPr/>
                </a:tc>
                <a:tc>
                  <a:txBody>
                    <a:bodyPr/>
                    <a:lstStyle/>
                    <a:p>
                      <a:r>
                        <a:rPr lang="vi-VN" sz="1700" kern="1200">
                          <a:solidFill>
                            <a:schemeClr val="tx1"/>
                          </a:solidFill>
                          <a:effectLst/>
                          <a:latin typeface="+mj-lt"/>
                          <a:ea typeface="+mn-ea"/>
                          <a:cs typeface="+mn-cs"/>
                        </a:rPr>
                        <a:t>1 x 1TB WD Black | WD Re4 Enterpriser | Tốc Độ 64M Cache</a:t>
                      </a:r>
                      <a:endParaRPr lang="vi-VN" sz="1700">
                        <a:latin typeface="+mj-lt"/>
                      </a:endParaRPr>
                    </a:p>
                  </a:txBody>
                  <a:tcPr/>
                </a:tc>
                <a:extLst>
                  <a:ext uri="{0D108BD9-81ED-4DB2-BD59-A6C34878D82A}">
                    <a16:rowId xmlns:a16="http://schemas.microsoft.com/office/drawing/2014/main" val="619647990"/>
                  </a:ext>
                </a:extLst>
              </a:tr>
              <a:tr h="603755">
                <a:tc>
                  <a:txBody>
                    <a:bodyPr/>
                    <a:lstStyle/>
                    <a:p>
                      <a:r>
                        <a:rPr lang="vi-VN" sz="1700" kern="1200">
                          <a:solidFill>
                            <a:schemeClr val="tx1"/>
                          </a:solidFill>
                          <a:effectLst/>
                          <a:latin typeface="+mj-lt"/>
                          <a:ea typeface="+mn-ea"/>
                          <a:cs typeface="+mn-cs"/>
                        </a:rPr>
                        <a:t>Nguồn Server</a:t>
                      </a:r>
                      <a:endParaRPr lang="vi-VN" sz="1700">
                        <a:latin typeface="+mj-lt"/>
                      </a:endParaRPr>
                    </a:p>
                  </a:txBody>
                  <a:tcPr/>
                </a:tc>
                <a:tc>
                  <a:txBody>
                    <a:bodyPr/>
                    <a:lstStyle/>
                    <a:p>
                      <a:r>
                        <a:rPr lang="vi-VN" sz="1700" kern="1200">
                          <a:solidFill>
                            <a:schemeClr val="tx1"/>
                          </a:solidFill>
                          <a:effectLst/>
                          <a:latin typeface="+mj-lt"/>
                          <a:ea typeface="+mn-ea"/>
                          <a:cs typeface="+mn-cs"/>
                        </a:rPr>
                        <a:t>Server FSP Saga 500W Extrem Fan 12cm</a:t>
                      </a:r>
                      <a:endParaRPr lang="vi-VN" sz="1700">
                        <a:latin typeface="+mj-lt"/>
                      </a:endParaRPr>
                    </a:p>
                  </a:txBody>
                  <a:tcPr/>
                </a:tc>
                <a:extLst>
                  <a:ext uri="{0D108BD9-81ED-4DB2-BD59-A6C34878D82A}">
                    <a16:rowId xmlns:a16="http://schemas.microsoft.com/office/drawing/2014/main" val="3174934695"/>
                  </a:ext>
                </a:extLst>
              </a:tr>
              <a:tr h="603755">
                <a:tc>
                  <a:txBody>
                    <a:bodyPr/>
                    <a:lstStyle/>
                    <a:p>
                      <a:r>
                        <a:rPr lang="vi-VN" sz="1700" kern="1200">
                          <a:solidFill>
                            <a:schemeClr val="tx1"/>
                          </a:solidFill>
                          <a:effectLst/>
                          <a:latin typeface="+mj-lt"/>
                          <a:ea typeface="+mn-ea"/>
                          <a:cs typeface="+mn-cs"/>
                        </a:rPr>
                        <a:t>SSD</a:t>
                      </a:r>
                      <a:endParaRPr lang="vi-VN" sz="1700">
                        <a:latin typeface="+mj-lt"/>
                      </a:endParaRPr>
                    </a:p>
                  </a:txBody>
                  <a:tcPr/>
                </a:tc>
                <a:tc>
                  <a:txBody>
                    <a:bodyPr/>
                    <a:lstStyle/>
                    <a:p>
                      <a:r>
                        <a:rPr lang="vi-VN" sz="1700" kern="1200">
                          <a:solidFill>
                            <a:schemeClr val="tx1"/>
                          </a:solidFill>
                          <a:effectLst/>
                          <a:latin typeface="+mj-lt"/>
                          <a:ea typeface="+mn-ea"/>
                          <a:cs typeface="+mn-cs"/>
                        </a:rPr>
                        <a:t>120Gb Kingston Sata 3 for Server | 128Gb LiTe-On sata 6Gb/s For Server</a:t>
                      </a:r>
                      <a:endParaRPr lang="vi-VN" sz="1700">
                        <a:latin typeface="+mj-lt"/>
                      </a:endParaRPr>
                    </a:p>
                  </a:txBody>
                  <a:tcPr/>
                </a:tc>
                <a:extLst>
                  <a:ext uri="{0D108BD9-81ED-4DB2-BD59-A6C34878D82A}">
                    <a16:rowId xmlns:a16="http://schemas.microsoft.com/office/drawing/2014/main" val="1463112095"/>
                  </a:ext>
                </a:extLst>
              </a:tr>
              <a:tr h="524175">
                <a:tc>
                  <a:txBody>
                    <a:bodyPr/>
                    <a:lstStyle/>
                    <a:p>
                      <a:r>
                        <a:rPr lang="vi-VN" sz="1700" kern="1200">
                          <a:solidFill>
                            <a:schemeClr val="tx1"/>
                          </a:solidFill>
                          <a:effectLst/>
                          <a:latin typeface="+mj-lt"/>
                          <a:ea typeface="+mn-ea"/>
                          <a:cs typeface="+mn-cs"/>
                        </a:rPr>
                        <a:t>Giá</a:t>
                      </a:r>
                      <a:endParaRPr lang="vi-VN" sz="1700">
                        <a:latin typeface="+mj-lt"/>
                      </a:endParaRPr>
                    </a:p>
                  </a:txBody>
                  <a:tcPr/>
                </a:tc>
                <a:tc>
                  <a:txBody>
                    <a:bodyPr/>
                    <a:lstStyle/>
                    <a:p>
                      <a:r>
                        <a:rPr lang="vi-VN" sz="1700" kern="1200">
                          <a:solidFill>
                            <a:schemeClr val="tx1"/>
                          </a:solidFill>
                          <a:effectLst/>
                          <a:latin typeface="+mj-lt"/>
                          <a:ea typeface="+mn-ea"/>
                          <a:cs typeface="+mn-cs"/>
                        </a:rPr>
                        <a:t>12.500.000 VNĐ</a:t>
                      </a:r>
                      <a:endParaRPr lang="vi-VN" sz="1700">
                        <a:latin typeface="+mj-lt"/>
                      </a:endParaRPr>
                    </a:p>
                  </a:txBody>
                  <a:tcPr/>
                </a:tc>
                <a:extLst>
                  <a:ext uri="{0D108BD9-81ED-4DB2-BD59-A6C34878D82A}">
                    <a16:rowId xmlns:a16="http://schemas.microsoft.com/office/drawing/2014/main" val="1978186016"/>
                  </a:ext>
                </a:extLst>
              </a:tr>
            </a:tbl>
          </a:graphicData>
        </a:graphic>
      </p:graphicFrame>
      <p:graphicFrame>
        <p:nvGraphicFramePr>
          <p:cNvPr id="7" name="Table 6">
            <a:extLst>
              <a:ext uri="{FF2B5EF4-FFF2-40B4-BE49-F238E27FC236}">
                <a16:creationId xmlns:a16="http://schemas.microsoft.com/office/drawing/2014/main" id="{2E69312F-D03E-405F-BA2C-76BE3632F795}"/>
              </a:ext>
            </a:extLst>
          </p:cNvPr>
          <p:cNvGraphicFramePr>
            <a:graphicFrameLocks noGrp="1"/>
          </p:cNvGraphicFramePr>
          <p:nvPr>
            <p:extLst>
              <p:ext uri="{D42A27DB-BD31-4B8C-83A1-F6EECF244321}">
                <p14:modId xmlns:p14="http://schemas.microsoft.com/office/powerpoint/2010/main" val="1654319150"/>
              </p:ext>
            </p:extLst>
          </p:nvPr>
        </p:nvGraphicFramePr>
        <p:xfrm>
          <a:off x="6362371" y="1352434"/>
          <a:ext cx="5634063" cy="5440864"/>
        </p:xfrm>
        <a:graphic>
          <a:graphicData uri="http://schemas.openxmlformats.org/drawingml/2006/table">
            <a:tbl>
              <a:tblPr firstRow="1" firstCol="1" bandRow="1">
                <a:tableStyleId>{5940675A-B579-460E-94D1-54222C63F5DA}</a:tableStyleId>
              </a:tblPr>
              <a:tblGrid>
                <a:gridCol w="1333829">
                  <a:extLst>
                    <a:ext uri="{9D8B030D-6E8A-4147-A177-3AD203B41FA5}">
                      <a16:colId xmlns:a16="http://schemas.microsoft.com/office/drawing/2014/main" val="984461428"/>
                    </a:ext>
                  </a:extLst>
                </a:gridCol>
                <a:gridCol w="4300234">
                  <a:extLst>
                    <a:ext uri="{9D8B030D-6E8A-4147-A177-3AD203B41FA5}">
                      <a16:colId xmlns:a16="http://schemas.microsoft.com/office/drawing/2014/main" val="1871043329"/>
                    </a:ext>
                  </a:extLst>
                </a:gridCol>
              </a:tblGrid>
              <a:tr h="523991">
                <a:tc gridSpan="2">
                  <a:txBody>
                    <a:bodyPr/>
                    <a:lstStyle/>
                    <a:p>
                      <a:pPr algn="just">
                        <a:lnSpc>
                          <a:spcPct val="150000"/>
                        </a:lnSpc>
                        <a:spcBef>
                          <a:spcPts val="600"/>
                        </a:spcBef>
                        <a:spcAft>
                          <a:spcPts val="600"/>
                        </a:spcAft>
                      </a:pPr>
                      <a:r>
                        <a:rPr lang="vi-VN" sz="2000">
                          <a:effectLst/>
                          <a:latin typeface="Times New Roman" panose="02020603050405020304" pitchFamily="18" charset="0"/>
                          <a:cs typeface="Times New Roman" panose="02020603050405020304" pitchFamily="18" charset="0"/>
                        </a:rPr>
                        <a:t>Máy PC</a:t>
                      </a:r>
                      <a:r>
                        <a:rPr lang="en-US" sz="2000">
                          <a:effectLst/>
                          <a:latin typeface="Times New Roman" panose="02020603050405020304" pitchFamily="18" charset="0"/>
                          <a:cs typeface="Times New Roman" panose="02020603050405020304" pitchFamily="18" charset="0"/>
                        </a:rPr>
                        <a:t>(60)</a:t>
                      </a:r>
                      <a:endParaRPr lang="vi-VN"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hMerge="1">
                  <a:txBody>
                    <a:bodyPr/>
                    <a:lstStyle/>
                    <a:p>
                      <a:endParaRPr lang="vi-VN"/>
                    </a:p>
                  </a:txBody>
                  <a:tcPr/>
                </a:tc>
                <a:extLst>
                  <a:ext uri="{0D108BD9-81ED-4DB2-BD59-A6C34878D82A}">
                    <a16:rowId xmlns:a16="http://schemas.microsoft.com/office/drawing/2014/main" val="805062096"/>
                  </a:ext>
                </a:extLst>
              </a:tr>
              <a:tr h="657225">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Main Board</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Mainboard  H110 </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3647504"/>
                  </a:ext>
                </a:extLst>
              </a:tr>
              <a:tr h="716396">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CPU</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Intel® Pentium®  G4400 – 4600 (3M Cache, 3.30 GHz)</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16885301"/>
                  </a:ext>
                </a:extLst>
              </a:tr>
              <a:tr h="526669">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Ram</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Teamgroup 4GB bus 2133</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7893415"/>
                  </a:ext>
                </a:extLst>
              </a:tr>
              <a:tr h="489458">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Card Lan</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1 lan onboard 1Gb ( 1000M )</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52737646"/>
                  </a:ext>
                </a:extLst>
              </a:tr>
              <a:tr h="389704">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VGA</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Coloful GTX 1030 2G DDR5</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95809903"/>
                  </a:ext>
                </a:extLst>
              </a:tr>
              <a:tr h="463863">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Màn Hình</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Màn hình  24 inh , Full HD</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71307883"/>
                  </a:ext>
                </a:extLst>
              </a:tr>
              <a:tr h="335348">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Nguồn</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Ximatek A300  300W công xuất thực</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62121200"/>
                  </a:ext>
                </a:extLst>
              </a:tr>
              <a:tr h="581914">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Phím Chuột</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Phím bán cơ Motospeed +chuột Fuhlen L102</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19222573"/>
                  </a:ext>
                </a:extLst>
              </a:tr>
              <a:tr h="393387">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Tai nghe</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Tai nghe A7 Có LED</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55907749"/>
                  </a:ext>
                </a:extLst>
              </a:tr>
              <a:tr h="335348">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Giá</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600"/>
                        </a:spcAft>
                      </a:pPr>
                      <a:r>
                        <a:rPr lang="en-US" sz="1700">
                          <a:effectLst/>
                          <a:latin typeface="Times New Roman" panose="02020603050405020304" pitchFamily="18" charset="0"/>
                          <a:cs typeface="Times New Roman" panose="02020603050405020304" pitchFamily="18" charset="0"/>
                        </a:rPr>
                        <a:t>10.000.000 ~ 11.000.000 VNĐ/1</a:t>
                      </a:r>
                      <a:endParaRPr lang="vi-VN" sz="17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46784554"/>
                  </a:ext>
                </a:extLst>
              </a:tr>
            </a:tbl>
          </a:graphicData>
        </a:graphic>
      </p:graphicFrame>
    </p:spTree>
    <p:extLst>
      <p:ext uri="{BB962C8B-B14F-4D97-AF65-F5344CB8AC3E}">
        <p14:creationId xmlns:p14="http://schemas.microsoft.com/office/powerpoint/2010/main" val="1420884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4" name="Rectangle 3">
            <a:extLst>
              <a:ext uri="{FF2B5EF4-FFF2-40B4-BE49-F238E27FC236}">
                <a16:creationId xmlns:a16="http://schemas.microsoft.com/office/drawing/2014/main" id="{27DCE04F-2782-4646-AA70-87A94102E7C7}"/>
              </a:ext>
            </a:extLst>
          </p:cNvPr>
          <p:cNvSpPr/>
          <p:nvPr/>
        </p:nvSpPr>
        <p:spPr>
          <a:xfrm>
            <a:off x="469571" y="789901"/>
            <a:ext cx="5707012" cy="523220"/>
          </a:xfrm>
          <a:prstGeom prst="rect">
            <a:avLst/>
          </a:prstGeom>
        </p:spPr>
        <p:txBody>
          <a:bodyPr wrap="none">
            <a:spAutoFit/>
          </a:bodyPr>
          <a:lstStyle/>
          <a:p>
            <a:r>
              <a:rPr lang="vi-VN" sz="2800" b="1">
                <a:latin typeface="+mj-lt"/>
              </a:rPr>
              <a:t>3.2. Kế hoạch triển khai (theo bước)</a:t>
            </a:r>
          </a:p>
        </p:txBody>
      </p:sp>
      <p:sp>
        <p:nvSpPr>
          <p:cNvPr id="6" name="Rectangle 5">
            <a:extLst>
              <a:ext uri="{FF2B5EF4-FFF2-40B4-BE49-F238E27FC236}">
                <a16:creationId xmlns:a16="http://schemas.microsoft.com/office/drawing/2014/main" id="{F9358B6A-C454-4024-8FDE-7257CCB9AF9D}"/>
              </a:ext>
            </a:extLst>
          </p:cNvPr>
          <p:cNvSpPr/>
          <p:nvPr/>
        </p:nvSpPr>
        <p:spPr>
          <a:xfrm>
            <a:off x="133578" y="44540"/>
            <a:ext cx="8846011" cy="646331"/>
          </a:xfrm>
          <a:prstGeom prst="rect">
            <a:avLst/>
          </a:prstGeom>
        </p:spPr>
        <p:txBody>
          <a:bodyPr wrap="none">
            <a:spAutoFit/>
          </a:bodyPr>
          <a:lstStyle/>
          <a:p>
            <a:r>
              <a:rPr lang="vi-VN" sz="3600" b="1">
                <a:latin typeface="+mj-lt"/>
              </a:rPr>
              <a:t>3. THIẾT KẾ &amp; TRIỂN KHAI KỸ THUẬT</a:t>
            </a:r>
          </a:p>
        </p:txBody>
      </p:sp>
      <p:sp>
        <p:nvSpPr>
          <p:cNvPr id="2" name="Rectangle 1">
            <a:extLst>
              <a:ext uri="{FF2B5EF4-FFF2-40B4-BE49-F238E27FC236}">
                <a16:creationId xmlns:a16="http://schemas.microsoft.com/office/drawing/2014/main" id="{0DC17A4E-4448-49F3-BA7C-164EEFA2D07E}"/>
              </a:ext>
            </a:extLst>
          </p:cNvPr>
          <p:cNvSpPr/>
          <p:nvPr/>
        </p:nvSpPr>
        <p:spPr>
          <a:xfrm>
            <a:off x="511504" y="1286253"/>
            <a:ext cx="11210925" cy="3395801"/>
          </a:xfrm>
          <a:prstGeom prst="rect">
            <a:avLst/>
          </a:prstGeom>
        </p:spPr>
        <p:txBody>
          <a:bodyPr wrap="square">
            <a:spAutoFit/>
          </a:bodyPr>
          <a:lstStyle/>
          <a:p>
            <a:pPr marL="342900" lvl="0" indent="-432000">
              <a:spcBef>
                <a:spcPts val="100"/>
              </a:spcBef>
              <a:spcAft>
                <a:spcPts val="100"/>
              </a:spcAft>
              <a:buFont typeface="+mj-lt"/>
              <a:buAutoNum type="arabicPeriod"/>
              <a:tabLst>
                <a:tab pos="457200" algn="l"/>
              </a:tabLst>
            </a:pPr>
            <a:r>
              <a:rPr lang="vi-VN" b="1">
                <a:latin typeface="+mj-lt"/>
                <a:ea typeface="Times New Roman" panose="02020603050405020304" pitchFamily="18" charset="0"/>
                <a:cs typeface="Times New Roman" panose="02020603050405020304" pitchFamily="18" charset="0"/>
              </a:rPr>
              <a:t>Chuẩn bị &amp; mua sắm</a:t>
            </a:r>
            <a:r>
              <a:rPr lang="vi-VN">
                <a:latin typeface="+mj-lt"/>
                <a:ea typeface="Times New Roman" panose="02020603050405020304" pitchFamily="18" charset="0"/>
                <a:cs typeface="Times New Roman" panose="02020603050405020304" pitchFamily="18" charset="0"/>
              </a:rPr>
              <a:t> thiết bị, cáp, rack, AP, máy in.</a:t>
            </a:r>
            <a:endParaRPr lang="vi-VN">
              <a:latin typeface="+mj-lt"/>
              <a:ea typeface="Times New Roman" panose="02020603050405020304" pitchFamily="18" charset="0"/>
            </a:endParaRPr>
          </a:p>
          <a:p>
            <a:pPr marL="342900" lvl="0" indent="-432000">
              <a:spcBef>
                <a:spcPts val="100"/>
              </a:spcBef>
              <a:spcAft>
                <a:spcPts val="100"/>
              </a:spcAft>
              <a:buFont typeface="+mj-lt"/>
              <a:buAutoNum type="arabicPeriod"/>
              <a:tabLst>
                <a:tab pos="457200" algn="l"/>
              </a:tabLst>
            </a:pPr>
            <a:r>
              <a:rPr lang="vi-VN" b="1">
                <a:latin typeface="+mj-lt"/>
                <a:ea typeface="Times New Roman" panose="02020603050405020304" pitchFamily="18" charset="0"/>
                <a:cs typeface="Times New Roman" panose="02020603050405020304" pitchFamily="18" charset="0"/>
              </a:rPr>
              <a:t>Lắp đặt vật lý</a:t>
            </a:r>
            <a:r>
              <a:rPr lang="vi-VN">
                <a:latin typeface="+mj-lt"/>
                <a:ea typeface="Times New Roman" panose="02020603050405020304" pitchFamily="18" charset="0"/>
                <a:cs typeface="Times New Roman" panose="02020603050405020304" pitchFamily="18" charset="0"/>
              </a:rPr>
              <a:t>: đặt rack, đi cáp, gắn patch panel, đánh nhãn cáp.</a:t>
            </a:r>
            <a:endParaRPr lang="vi-VN">
              <a:latin typeface="+mj-lt"/>
              <a:ea typeface="Times New Roman" panose="02020603050405020304" pitchFamily="18" charset="0"/>
            </a:endParaRPr>
          </a:p>
          <a:p>
            <a:pPr marL="342900" lvl="0" indent="-432000">
              <a:spcBef>
                <a:spcPts val="100"/>
              </a:spcBef>
              <a:spcAft>
                <a:spcPts val="100"/>
              </a:spcAft>
              <a:buFont typeface="+mj-lt"/>
              <a:buAutoNum type="arabicPeriod"/>
              <a:tabLst>
                <a:tab pos="457200" algn="l"/>
              </a:tabLst>
            </a:pPr>
            <a:r>
              <a:rPr lang="vi-VN" b="1">
                <a:latin typeface="+mj-lt"/>
                <a:ea typeface="Times New Roman" panose="02020603050405020304" pitchFamily="18" charset="0"/>
                <a:cs typeface="Times New Roman" panose="02020603050405020304" pitchFamily="18" charset="0"/>
              </a:rPr>
              <a:t>Cấu hình thiết bị core</a:t>
            </a:r>
            <a:r>
              <a:rPr lang="vi-VN">
                <a:latin typeface="+mj-lt"/>
                <a:ea typeface="Times New Roman" panose="02020603050405020304" pitchFamily="18" charset="0"/>
                <a:cs typeface="Times New Roman" panose="02020603050405020304" pitchFamily="18" charset="0"/>
              </a:rPr>
              <a:t>: Router (Internet), Core Switch (VLAN, SVI), Access Switches (trunk ports to core).</a:t>
            </a:r>
            <a:endParaRPr lang="vi-VN">
              <a:latin typeface="+mj-lt"/>
              <a:ea typeface="Times New Roman" panose="02020603050405020304" pitchFamily="18" charset="0"/>
            </a:endParaRPr>
          </a:p>
          <a:p>
            <a:pPr marL="342900" lvl="0" indent="-432000">
              <a:spcBef>
                <a:spcPts val="100"/>
              </a:spcBef>
              <a:spcAft>
                <a:spcPts val="100"/>
              </a:spcAft>
              <a:buFont typeface="+mj-lt"/>
              <a:buAutoNum type="arabicPeriod"/>
              <a:tabLst>
                <a:tab pos="457200" algn="l"/>
              </a:tabLst>
            </a:pPr>
            <a:r>
              <a:rPr lang="vi-VN" b="1">
                <a:latin typeface="+mj-lt"/>
                <a:ea typeface="Times New Roman" panose="02020603050405020304" pitchFamily="18" charset="0"/>
                <a:cs typeface="Times New Roman" panose="02020603050405020304" pitchFamily="18" charset="0"/>
              </a:rPr>
              <a:t>Triển khai Server</a:t>
            </a:r>
            <a:r>
              <a:rPr lang="vi-VN">
                <a:latin typeface="+mj-lt"/>
                <a:ea typeface="Times New Roman" panose="02020603050405020304" pitchFamily="18" charset="0"/>
                <a:cs typeface="Times New Roman" panose="02020603050405020304" pitchFamily="18" charset="0"/>
              </a:rPr>
              <a:t>: cài Windows Server, AD, DNS, DHCP (nếu server DHCP), File Server, Print Server.</a:t>
            </a:r>
            <a:endParaRPr lang="vi-VN">
              <a:latin typeface="+mj-lt"/>
              <a:ea typeface="Times New Roman" panose="02020603050405020304" pitchFamily="18" charset="0"/>
            </a:endParaRPr>
          </a:p>
          <a:p>
            <a:pPr marL="342900" lvl="0" indent="-432000">
              <a:spcBef>
                <a:spcPts val="100"/>
              </a:spcBef>
              <a:spcAft>
                <a:spcPts val="100"/>
              </a:spcAft>
              <a:buFont typeface="+mj-lt"/>
              <a:buAutoNum type="arabicPeriod"/>
              <a:tabLst>
                <a:tab pos="457200" algn="l"/>
              </a:tabLst>
            </a:pPr>
            <a:r>
              <a:rPr lang="vi-VN" b="1">
                <a:latin typeface="+mj-lt"/>
                <a:ea typeface="Times New Roman" panose="02020603050405020304" pitchFamily="18" charset="0"/>
                <a:cs typeface="Times New Roman" panose="02020603050405020304" pitchFamily="18" charset="0"/>
              </a:rPr>
              <a:t>Test</a:t>
            </a:r>
            <a:r>
              <a:rPr lang="vi-VN">
                <a:latin typeface="+mj-lt"/>
                <a:ea typeface="Times New Roman" panose="02020603050405020304" pitchFamily="18" charset="0"/>
                <a:cs typeface="Times New Roman" panose="02020603050405020304" pitchFamily="18" charset="0"/>
              </a:rPr>
              <a:t>: kiểm tra ping giữa VLAN, truy cập file server, login AD, in thử.</a:t>
            </a:r>
          </a:p>
          <a:p>
            <a:pPr marL="800100" lvl="1" indent="-432000">
              <a:spcBef>
                <a:spcPts val="100"/>
              </a:spcBef>
              <a:spcAft>
                <a:spcPts val="100"/>
              </a:spcAft>
              <a:buFont typeface="Arial" panose="020B0604020202020204" pitchFamily="34" charset="0"/>
              <a:buChar char="•"/>
              <a:tabLst>
                <a:tab pos="457200" algn="l"/>
              </a:tabLst>
            </a:pPr>
            <a:r>
              <a:rPr lang="vi-VN">
                <a:latin typeface="+mj-lt"/>
              </a:rPr>
              <a:t>DHCP cấp IP VLAN10/11: Tự động nhận đúng dải</a:t>
            </a:r>
          </a:p>
          <a:p>
            <a:pPr marL="800100" lvl="1" indent="-432000">
              <a:spcBef>
                <a:spcPts val="100"/>
              </a:spcBef>
              <a:spcAft>
                <a:spcPts val="100"/>
              </a:spcAft>
              <a:buFont typeface="Arial" panose="020B0604020202020204" pitchFamily="34" charset="0"/>
              <a:buChar char="•"/>
              <a:tabLst>
                <a:tab pos="457200" algn="l"/>
              </a:tabLst>
            </a:pPr>
            <a:r>
              <a:rPr lang="vi-VN">
                <a:latin typeface="+mj-lt"/>
              </a:rPr>
              <a:t>Ping VLAN khác: </a:t>
            </a:r>
          </a:p>
          <a:p>
            <a:pPr marL="800100" lvl="1" indent="-432000">
              <a:spcBef>
                <a:spcPts val="100"/>
              </a:spcBef>
              <a:spcAft>
                <a:spcPts val="100"/>
              </a:spcAft>
              <a:buFont typeface="Arial" panose="020B0604020202020204" pitchFamily="34" charset="0"/>
              <a:buChar char="•"/>
              <a:tabLst>
                <a:tab pos="457200" algn="l"/>
              </a:tabLst>
            </a:pPr>
            <a:r>
              <a:rPr lang="vi-VN">
                <a:latin typeface="+mj-lt"/>
              </a:rPr>
              <a:t>Login domain</a:t>
            </a:r>
          </a:p>
          <a:p>
            <a:pPr marL="800100" lvl="1" indent="-432000">
              <a:spcBef>
                <a:spcPts val="100"/>
              </a:spcBef>
              <a:spcAft>
                <a:spcPts val="100"/>
              </a:spcAft>
              <a:buFont typeface="Arial" panose="020B0604020202020204" pitchFamily="34" charset="0"/>
              <a:buChar char="•"/>
              <a:tabLst>
                <a:tab pos="457200" algn="l"/>
              </a:tabLst>
            </a:pPr>
            <a:r>
              <a:rPr lang="vi-VN">
                <a:latin typeface="+mj-lt"/>
              </a:rPr>
              <a:t>In test</a:t>
            </a:r>
          </a:p>
          <a:p>
            <a:pPr marL="800100" lvl="1" indent="-432000">
              <a:spcBef>
                <a:spcPts val="100"/>
              </a:spcBef>
              <a:spcAft>
                <a:spcPts val="100"/>
              </a:spcAft>
              <a:buFont typeface="Arial" panose="020B0604020202020204" pitchFamily="34" charset="0"/>
              <a:buChar char="•"/>
              <a:tabLst>
                <a:tab pos="457200" algn="l"/>
              </a:tabLst>
            </a:pPr>
            <a:r>
              <a:rPr lang="vi-VN">
                <a:latin typeface="+mj-lt"/>
              </a:rPr>
              <a:t>Sao lưu NAS</a:t>
            </a:r>
            <a:endParaRPr lang="vi-VN">
              <a:latin typeface="+mj-lt"/>
              <a:ea typeface="Times New Roman" panose="02020603050405020304" pitchFamily="18" charset="0"/>
            </a:endParaRPr>
          </a:p>
          <a:p>
            <a:pPr marL="342900" lvl="0" indent="-432000">
              <a:spcBef>
                <a:spcPts val="100"/>
              </a:spcBef>
              <a:spcAft>
                <a:spcPts val="100"/>
              </a:spcAft>
              <a:buFont typeface="+mj-lt"/>
              <a:buAutoNum type="arabicPeriod"/>
              <a:tabLst>
                <a:tab pos="457200" algn="l"/>
              </a:tabLst>
            </a:pPr>
            <a:r>
              <a:rPr lang="vi-VN" b="1">
                <a:latin typeface="+mj-lt"/>
                <a:ea typeface="Times New Roman" panose="02020603050405020304" pitchFamily="18" charset="0"/>
                <a:cs typeface="Times New Roman" panose="02020603050405020304" pitchFamily="18" charset="0"/>
              </a:rPr>
              <a:t>Tối ưu &amp; bàn giao</a:t>
            </a:r>
            <a:r>
              <a:rPr lang="vi-VN">
                <a:latin typeface="+mj-lt"/>
                <a:ea typeface="Times New Roman" panose="02020603050405020304" pitchFamily="18" charset="0"/>
                <a:cs typeface="Times New Roman" panose="02020603050405020304" pitchFamily="18" charset="0"/>
              </a:rPr>
              <a:t>: hoàn tất tài liệu, hướng dẫn sử dụng cho giáo viên/IT.</a:t>
            </a:r>
            <a:endParaRPr lang="vi-VN">
              <a:effectLst/>
              <a:latin typeface="+mj-lt"/>
              <a:ea typeface="Times New Roman" panose="02020603050405020304" pitchFamily="18" charset="0"/>
            </a:endParaRPr>
          </a:p>
        </p:txBody>
      </p:sp>
      <p:sp>
        <p:nvSpPr>
          <p:cNvPr id="14" name="Rectangle 13">
            <a:extLst>
              <a:ext uri="{FF2B5EF4-FFF2-40B4-BE49-F238E27FC236}">
                <a16:creationId xmlns:a16="http://schemas.microsoft.com/office/drawing/2014/main" id="{C89005D0-F15E-4899-A3FB-56AC33594ED6}"/>
              </a:ext>
            </a:extLst>
          </p:cNvPr>
          <p:cNvSpPr/>
          <p:nvPr/>
        </p:nvSpPr>
        <p:spPr>
          <a:xfrm>
            <a:off x="890586" y="5081111"/>
            <a:ext cx="6096000" cy="1200329"/>
          </a:xfrm>
          <a:prstGeom prst="rect">
            <a:avLst/>
          </a:prstGeom>
        </p:spPr>
        <p:txBody>
          <a:bodyPr>
            <a:spAutoFit/>
          </a:bodyPr>
          <a:lstStyle/>
          <a:p>
            <a:r>
              <a:rPr lang="vi-VN" b="1">
                <a:latin typeface="+mj-lt"/>
              </a:rPr>
              <a:t>- Hàng tuần:</a:t>
            </a:r>
            <a:r>
              <a:rPr lang="vi-VN">
                <a:latin typeface="+mj-lt"/>
              </a:rPr>
              <a:t> kiểm tra kết nối, nhật ký log.</a:t>
            </a:r>
          </a:p>
          <a:p>
            <a:r>
              <a:rPr lang="vi-VN" b="1">
                <a:latin typeface="+mj-lt"/>
              </a:rPr>
              <a:t>- Hàng tháng:</a:t>
            </a:r>
            <a:r>
              <a:rPr lang="vi-VN">
                <a:latin typeface="+mj-lt"/>
              </a:rPr>
              <a:t> sao lưu dữ liệu AD, kiểm tra UPS.</a:t>
            </a:r>
          </a:p>
          <a:p>
            <a:r>
              <a:rPr lang="vi-VN" b="1">
                <a:latin typeface="+mj-lt"/>
              </a:rPr>
              <a:t>- Hàng quý:</a:t>
            </a:r>
            <a:r>
              <a:rPr lang="vi-VN">
                <a:latin typeface="+mj-lt"/>
              </a:rPr>
              <a:t> vệ sinh switch/router, cập nhật firmware.</a:t>
            </a:r>
          </a:p>
          <a:p>
            <a:r>
              <a:rPr lang="vi-VN" b="1">
                <a:latin typeface="+mj-lt"/>
              </a:rPr>
              <a:t>- Hàng năm:</a:t>
            </a:r>
            <a:r>
              <a:rPr lang="vi-VN">
                <a:latin typeface="+mj-lt"/>
              </a:rPr>
              <a:t> đánh giá mở rộng băng thông, bổ sung AP</a:t>
            </a:r>
          </a:p>
        </p:txBody>
      </p:sp>
      <p:sp>
        <p:nvSpPr>
          <p:cNvPr id="15" name="Rectangle 14">
            <a:extLst>
              <a:ext uri="{FF2B5EF4-FFF2-40B4-BE49-F238E27FC236}">
                <a16:creationId xmlns:a16="http://schemas.microsoft.com/office/drawing/2014/main" id="{D3205CD5-9116-4348-B222-9C2CCFF1FF1D}"/>
              </a:ext>
            </a:extLst>
          </p:cNvPr>
          <p:cNvSpPr/>
          <p:nvPr/>
        </p:nvSpPr>
        <p:spPr>
          <a:xfrm>
            <a:off x="469571" y="4557891"/>
            <a:ext cx="4636206" cy="523220"/>
          </a:xfrm>
          <a:prstGeom prst="rect">
            <a:avLst/>
          </a:prstGeom>
        </p:spPr>
        <p:txBody>
          <a:bodyPr wrap="none">
            <a:spAutoFit/>
          </a:bodyPr>
          <a:lstStyle/>
          <a:p>
            <a:r>
              <a:rPr lang="vi-VN" sz="2800" b="1">
                <a:latin typeface="+mj-lt"/>
              </a:rPr>
              <a:t>3.3. Kế hoạch bảo trì định kỳ</a:t>
            </a:r>
          </a:p>
        </p:txBody>
      </p:sp>
    </p:spTree>
    <p:extLst>
      <p:ext uri="{BB962C8B-B14F-4D97-AF65-F5344CB8AC3E}">
        <p14:creationId xmlns:p14="http://schemas.microsoft.com/office/powerpoint/2010/main" val="707536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F17552-564C-4FB4-9248-D67F7846BFA2}"/>
              </a:ext>
            </a:extLst>
          </p:cNvPr>
          <p:cNvSpPr/>
          <p:nvPr/>
        </p:nvSpPr>
        <p:spPr>
          <a:xfrm>
            <a:off x="0" y="0"/>
            <a:ext cx="12192000" cy="716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vi-VN">
              <a:ln w="0"/>
              <a:solidFill>
                <a:schemeClr val="accent1"/>
              </a:solidFill>
              <a:effectLst>
                <a:outerShdw blurRad="38100" dist="25400" dir="5400000" algn="ctr" rotWithShape="0">
                  <a:srgbClr val="6E747A">
                    <a:alpha val="43000"/>
                  </a:srgbClr>
                </a:outerShdw>
              </a:effectLst>
            </a:endParaRPr>
          </a:p>
        </p:txBody>
      </p:sp>
      <p:sp>
        <p:nvSpPr>
          <p:cNvPr id="6" name="Rectangle 5">
            <a:extLst>
              <a:ext uri="{FF2B5EF4-FFF2-40B4-BE49-F238E27FC236}">
                <a16:creationId xmlns:a16="http://schemas.microsoft.com/office/drawing/2014/main" id="{F9358B6A-C454-4024-8FDE-7257CCB9AF9D}"/>
              </a:ext>
            </a:extLst>
          </p:cNvPr>
          <p:cNvSpPr/>
          <p:nvPr/>
        </p:nvSpPr>
        <p:spPr>
          <a:xfrm>
            <a:off x="133578" y="44540"/>
            <a:ext cx="6978192" cy="1200329"/>
          </a:xfrm>
          <a:prstGeom prst="rect">
            <a:avLst/>
          </a:prstGeom>
        </p:spPr>
        <p:txBody>
          <a:bodyPr wrap="none">
            <a:spAutoFit/>
          </a:bodyPr>
          <a:lstStyle/>
          <a:p>
            <a:r>
              <a:rPr lang="vi-VN" sz="3600" b="1">
                <a:latin typeface="+mj-lt"/>
              </a:rPr>
              <a:t>4. </a:t>
            </a:r>
            <a:r>
              <a:rPr lang="vi-VN" sz="3600" b="1"/>
              <a:t>Kết luận và hướng phát triển</a:t>
            </a:r>
          </a:p>
          <a:p>
            <a:endParaRPr lang="vi-VN" sz="3600" b="1">
              <a:latin typeface="+mj-lt"/>
            </a:endParaRPr>
          </a:p>
        </p:txBody>
      </p:sp>
      <p:sp>
        <p:nvSpPr>
          <p:cNvPr id="2" name="Rectangle 1">
            <a:extLst>
              <a:ext uri="{FF2B5EF4-FFF2-40B4-BE49-F238E27FC236}">
                <a16:creationId xmlns:a16="http://schemas.microsoft.com/office/drawing/2014/main" id="{80918848-6B61-4DCD-A7FB-FFA77680E510}"/>
              </a:ext>
            </a:extLst>
          </p:cNvPr>
          <p:cNvSpPr/>
          <p:nvPr/>
        </p:nvSpPr>
        <p:spPr>
          <a:xfrm>
            <a:off x="581024" y="1013184"/>
            <a:ext cx="10448925" cy="3586366"/>
          </a:xfrm>
          <a:prstGeom prst="rect">
            <a:avLst/>
          </a:prstGeom>
        </p:spPr>
        <p:txBody>
          <a:bodyPr wrap="square">
            <a:spAutoFit/>
          </a:bodyPr>
          <a:lstStyle/>
          <a:p>
            <a:pPr marL="342900" indent="-342900">
              <a:lnSpc>
                <a:spcPct val="150000"/>
              </a:lnSpc>
              <a:buFont typeface="Wingdings" panose="05000000000000000000" pitchFamily="2" charset="2"/>
              <a:buChar char="Ø"/>
            </a:pPr>
            <a:r>
              <a:rPr lang="vi-VN" sz="2200" b="1">
                <a:latin typeface="+mj-lt"/>
              </a:rPr>
              <a:t>Hệ thống LAN mới giúp:</a:t>
            </a:r>
          </a:p>
          <a:p>
            <a:pPr marL="742950" lvl="1" indent="-285750">
              <a:lnSpc>
                <a:spcPct val="150000"/>
              </a:lnSpc>
              <a:buFont typeface="Arial" panose="020B0604020202020204" pitchFamily="34" charset="0"/>
              <a:buChar char="•"/>
            </a:pPr>
            <a:r>
              <a:rPr lang="vi-VN" sz="2200">
                <a:latin typeface="+mj-lt"/>
              </a:rPr>
              <a:t>Tăng hiệu suất dạy học, truy cập nhanh và ổn định.</a:t>
            </a:r>
          </a:p>
          <a:p>
            <a:pPr marL="742950" lvl="1" indent="-285750">
              <a:lnSpc>
                <a:spcPct val="150000"/>
              </a:lnSpc>
              <a:buFont typeface="Arial" panose="020B0604020202020204" pitchFamily="34" charset="0"/>
              <a:buChar char="•"/>
            </a:pPr>
            <a:r>
              <a:rPr lang="vi-VN" sz="2200">
                <a:latin typeface="+mj-lt"/>
              </a:rPr>
              <a:t>Dễ quản lý người dùng, in ấn, sao lưu.</a:t>
            </a:r>
          </a:p>
          <a:p>
            <a:pPr marL="742950" lvl="1" indent="-285750">
              <a:lnSpc>
                <a:spcPct val="150000"/>
              </a:lnSpc>
              <a:buFont typeface="Arial" panose="020B0604020202020204" pitchFamily="34" charset="0"/>
              <a:buChar char="•"/>
            </a:pPr>
            <a:r>
              <a:rPr lang="vi-VN" sz="2200">
                <a:latin typeface="+mj-lt"/>
              </a:rPr>
              <a:t>Giảm lỗi xung đột IP và nhiễm virus lan mạng.</a:t>
            </a:r>
          </a:p>
          <a:p>
            <a:pPr marL="342900" indent="-342900">
              <a:lnSpc>
                <a:spcPct val="150000"/>
              </a:lnSpc>
              <a:buFont typeface="Wingdings" panose="05000000000000000000" pitchFamily="2" charset="2"/>
              <a:buChar char="Ø"/>
            </a:pPr>
            <a:r>
              <a:rPr lang="vi-VN" sz="2200" b="1">
                <a:latin typeface="+mj-lt"/>
              </a:rPr>
              <a:t>Hướng phát triển:</a:t>
            </a:r>
            <a:endParaRPr lang="vi-VN" sz="2200">
              <a:latin typeface="+mj-lt"/>
            </a:endParaRPr>
          </a:p>
          <a:p>
            <a:pPr marL="742950" lvl="1" indent="-285750">
              <a:lnSpc>
                <a:spcPct val="150000"/>
              </a:lnSpc>
              <a:buFont typeface="Arial" panose="020B0604020202020204" pitchFamily="34" charset="0"/>
              <a:buChar char="•"/>
            </a:pPr>
            <a:r>
              <a:rPr lang="vi-VN" sz="2200">
                <a:latin typeface="+mj-lt"/>
              </a:rPr>
              <a:t>Tích hợp học liệu số, giám sát lớp học.</a:t>
            </a:r>
          </a:p>
          <a:p>
            <a:pPr marL="742950" lvl="1" indent="-285750">
              <a:lnSpc>
                <a:spcPct val="150000"/>
              </a:lnSpc>
              <a:buFont typeface="Arial" panose="020B0604020202020204" pitchFamily="34" charset="0"/>
              <a:buChar char="•"/>
            </a:pPr>
            <a:r>
              <a:rPr lang="vi-VN" sz="2200">
                <a:latin typeface="+mj-lt"/>
              </a:rPr>
              <a:t>Kết nối hệ thống camera, e-learning, và cloud backup.</a:t>
            </a:r>
          </a:p>
        </p:txBody>
      </p:sp>
    </p:spTree>
    <p:extLst>
      <p:ext uri="{BB962C8B-B14F-4D97-AF65-F5344CB8AC3E}">
        <p14:creationId xmlns:p14="http://schemas.microsoft.com/office/powerpoint/2010/main" val="8018334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246A8D-8B9C-473A-B8A9-E77B64953E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77"/>
            <a:ext cx="12192000" cy="6862354"/>
          </a:xfrm>
          <a:prstGeom prst="rect">
            <a:avLst/>
          </a:prstGeom>
        </p:spPr>
      </p:pic>
    </p:spTree>
    <p:extLst>
      <p:ext uri="{BB962C8B-B14F-4D97-AF65-F5344CB8AC3E}">
        <p14:creationId xmlns:p14="http://schemas.microsoft.com/office/powerpoint/2010/main" val="1951030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1114</TotalTime>
  <Words>2697</Words>
  <Application>Microsoft Office PowerPoint</Application>
  <PresentationFormat>Widescreen</PresentationFormat>
  <Paragraphs>316</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Segoe UI Emoji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92</cp:revision>
  <dcterms:created xsi:type="dcterms:W3CDTF">2025-11-07T05:53:56Z</dcterms:created>
  <dcterms:modified xsi:type="dcterms:W3CDTF">2025-12-30T06:18:48Z</dcterms:modified>
</cp:coreProperties>
</file>